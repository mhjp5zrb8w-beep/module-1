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69" r:id="rId4"/>
    <p:sldId id="257" r:id="rId5"/>
    <p:sldId id="258" r:id="rId6"/>
    <p:sldId id="270" r:id="rId7"/>
    <p:sldId id="271" r:id="rId8"/>
    <p:sldId id="272" r:id="rId9"/>
    <p:sldId id="273" r:id="rId10"/>
    <p:sldId id="274" r:id="rId11"/>
    <p:sldId id="277" r:id="rId12"/>
    <p:sldId id="278" r:id="rId13"/>
    <p:sldId id="265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87D5-8316-42D2-9586-EA3C5D6473B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2389F-9E3B-4D06-B22F-9192FD32A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2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1CF7-6EC5-46DD-C0D2-04B2DBC82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E9356-88CB-20D8-DC01-D5B60B9B2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7DB8-D253-3A5A-3A33-A5D8C572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98A10-93FB-7546-D0AF-7A77E69F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BDA4-F06C-B032-148E-9D8ECBE3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78B2-9EE0-B5E5-2904-B5F990C6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6878-3AEE-0BA3-CB25-62DC8BBE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87BB-C2F3-9FB8-1E22-54C05AD7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9ED91-9B1B-57A0-0B1A-D8B024D2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95437-CDD7-126A-6550-F22FF888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2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C9C1-E374-4A72-306A-6492DC19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E3F-4212-5887-1224-50788400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8E351-D2BC-3A90-D0A5-C2C8F9DD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AF142-E89D-38F0-D3F8-0FBC4BD6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006E-015B-9784-842A-C394CB6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39BC-3196-6534-7F32-3B7BAE81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0A58-09B2-9DCC-CC7F-12467A960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C4ED8-A328-7466-8637-12BA2329B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DD35-3D98-3F5E-9E3A-5D70695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D15D-3A18-0BAD-48E2-484BB68A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60D7-1FF2-E56F-1096-8576C440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D4EF-0D03-FB6F-B678-A6EC394C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E67E-B16B-D7B4-C18A-0E2E54E71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D2BF6-3B04-D829-5765-749C7A3A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E4C4B-89A2-A1ED-2934-411CB7A28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89B8A-BE2A-C830-D89F-69E43386E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8AC6F-94E7-8CFC-72F0-CA888E4E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68DD7-A7D6-17BD-5D91-B8E99621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75185-0732-EF95-D910-32DABFF8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802F-0B3B-6167-EA98-5C2FC134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9AB04-BB82-EB30-0B97-1F540E3D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FD10-1522-A793-E033-EC250D90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7C5BA-7640-8B75-B121-F1837BD3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8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8E06A-8B04-D5A6-ADFB-079B9F6A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B3DFB-C520-D218-DE5D-276AA08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C481-A6F4-F25B-39C5-AC5AEE2A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8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ECAF-61F6-72C1-5928-BB2AD0DA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B707-0F07-B916-5B9D-2C1F8E13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A3D2A-3EC1-B71C-60BA-C8876EBB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0A44D-6927-EC16-87E1-09D7F3B9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5E51-0ABD-1127-40E5-49B5582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1C5A4-5A63-6F02-0DF4-1FD04B19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8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FCA2-1DAB-0431-9434-41650A7C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4B6FD-A433-03A6-D6D4-25BECA88D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3C319-0741-B419-5E47-8443EA5B9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EB1EF-586D-3E32-502C-E696CBFC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71C58-D253-70C8-3862-EBC2C5BB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3662-E3E0-1D1A-CBE3-621C7A4E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3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2366-B0DD-720F-556B-DCC94F13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3EAA6-8345-26F9-8FD5-D2FD6619C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B1320-34A0-C929-F4F2-084F2A93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8215-3AE4-80B8-9DDF-984B7655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BEAB-152B-B2FE-A297-EE9E449B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2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6BBD7-F6C5-4547-9D9D-4DCEA7D82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6EB9E-7FB6-0C3A-613C-801362CF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475A9-6845-7DBC-4B21-3AC8690F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923CE-A5D6-2733-6D94-2B614B65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514D-3B53-7760-0DF8-65C111C9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8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50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7C7B5-4840-38DE-7C76-D6300E8A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AF1C-920C-1CF1-3658-3F9B6672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D3B9-5F3F-A205-96C7-227A1030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F5A94-5088-43EF-B815-53F6BA297BE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2CA3-2085-F20B-977B-E42E9F624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AD0A-31BC-6E45-8956-91A6C2998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5569-FB1D-2425-0BB8-D81D1D748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5010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7280A-7264-DC9C-B390-6E381394C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21699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probably done this before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1F232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REPLICATION_FOLDER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122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122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paper_draft.do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5694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5694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paper_draft_v2.do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0266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paper_draft_v2_edited.do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4838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34838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paper_draft_v2_edited_KEEP.do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9410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39410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paper_FINAL.do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3982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43982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300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paper_FINAL_seriously.do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8554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" y="48554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paper_FINAL_ACTUALLY_v3.do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3126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" y="53126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Untitled 47.do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769864"/>
            <a:ext cx="201168" cy="256032"/>
          </a:xfrm>
          <a:prstGeom prst="rect">
            <a:avLst/>
          </a:prstGeom>
          <a:solidFill>
            <a:srgbClr val="D0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" y="5769864"/>
            <a:ext cx="109728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43000" y="5715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email_attachment_from_coauthor.do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0D1117"/>
          </a:solidFill>
          <a:ln/>
          <a:effectLst>
            <a:outerShdw blurRad="76200" dist="25400" dir="5400000" algn="bl" rotWithShape="0">
              <a:srgbClr val="1F232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16916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is actually correct?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changed between drafts?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the latest copy right now?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263640" y="3794760"/>
            <a:ext cx="5394960" cy="246888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1F232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25300" y="4425696"/>
            <a:ext cx="322600" cy="384048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37960" y="4892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tracks every change automatically — so you never have to name a file “FINAL_v3” again.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48B8-29D2-4D96-BC8A-A6139A83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75924-0800-4A45-B744-BE6EE1C4D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Economists complain frequently about how hard it is to maintain good version control, especially in collaborative projects.</a:t>
            </a:r>
          </a:p>
          <a:p>
            <a:r>
              <a:rPr lang="en-US" dirty="0"/>
              <a:t>Computer scientists figured out a pretty good system for version control in 2005.</a:t>
            </a:r>
          </a:p>
          <a:p>
            <a:r>
              <a:rPr lang="en-US" dirty="0"/>
              <a:t>This system is called Git. </a:t>
            </a:r>
          </a:p>
          <a:p>
            <a:r>
              <a:rPr lang="en-US" dirty="0"/>
              <a:t>Main features</a:t>
            </a:r>
          </a:p>
          <a:p>
            <a:pPr lvl="1"/>
            <a:r>
              <a:rPr lang="en-US" dirty="0"/>
              <a:t>Can be used for any text-based file type.</a:t>
            </a:r>
          </a:p>
          <a:p>
            <a:pPr lvl="1"/>
            <a:r>
              <a:rPr lang="en-US" dirty="0"/>
              <a:t>Never have to have a file name like “draft_v3_final_FINAL” ever again</a:t>
            </a:r>
          </a:p>
          <a:p>
            <a:pPr lvl="1"/>
            <a:r>
              <a:rPr lang="en-US" dirty="0"/>
              <a:t>COMPLETE documentation of changes made (and when)</a:t>
            </a:r>
          </a:p>
          <a:p>
            <a:pPr lvl="1"/>
            <a:r>
              <a:rPr lang="en-US" dirty="0"/>
              <a:t>Easily allows for multiple people to work on the same file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178040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xkcd 1597">
            <a:extLst>
              <a:ext uri="{FF2B5EF4-FFF2-40B4-BE49-F238E27FC236}">
                <a16:creationId xmlns:a16="http://schemas.microsoft.com/office/drawing/2014/main" id="{9173F211-30BB-4647-1AA9-66EDB9FA8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689" y="856370"/>
            <a:ext cx="3547310" cy="51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9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A1B60-81B7-0F28-8066-6065FC7A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Git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1906-4649-A35B-A5C3-4A1A39654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Maintains “snapshots” of a project.</a:t>
            </a:r>
          </a:p>
          <a:p>
            <a:pPr lvl="1"/>
            <a:r>
              <a:rPr lang="en-US" dirty="0"/>
              <a:t>Who made each snapshot</a:t>
            </a:r>
          </a:p>
          <a:p>
            <a:pPr lvl="1"/>
            <a:r>
              <a:rPr lang="en-US" dirty="0"/>
              <a:t>Messages associated with each snapshot</a:t>
            </a:r>
          </a:p>
          <a:p>
            <a:pPr lvl="1"/>
            <a:r>
              <a:rPr lang="en-US" dirty="0"/>
              <a:t>And so on</a:t>
            </a:r>
          </a:p>
          <a:p>
            <a:pPr lvl="1"/>
            <a:r>
              <a:rPr lang="en-US" dirty="0"/>
              <a:t>Allows users to revert to earlier snapshots whenever necessary</a:t>
            </a:r>
          </a:p>
          <a:p>
            <a:r>
              <a:rPr lang="en-US" dirty="0"/>
              <a:t>Can let you easily answer historical questions about a project</a:t>
            </a:r>
          </a:p>
          <a:p>
            <a:pPr lvl="1"/>
            <a:r>
              <a:rPr lang="en-US" dirty="0"/>
              <a:t>Who wrote this part of the code, and when/why?</a:t>
            </a:r>
          </a:p>
          <a:p>
            <a:pPr lvl="1"/>
            <a:r>
              <a:rPr lang="en-US" dirty="0"/>
              <a:t>When did a particular bug start to show up in a project?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53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58CC-294A-13AB-6E55-7EF9AE73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9A255-451D-0665-9BB2-073CC20C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16" y="2048593"/>
            <a:ext cx="11869484" cy="336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4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1E188-3D68-D6E3-6866-A460B9C9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F834-E160-57F6-3FCC-40F71C1B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Git, specifically?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2ABE-0688-BDE8-A82B-955BBCC6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is just a version control software.</a:t>
            </a:r>
          </a:p>
          <a:p>
            <a:r>
              <a:rPr lang="en-US" dirty="0"/>
              <a:t>Runs locally on your computer.</a:t>
            </a:r>
          </a:p>
          <a:p>
            <a:r>
              <a:rPr lang="en-US" dirty="0"/>
              <a:t>Once you have it, no need for any kind of internet connection to use it.  </a:t>
            </a:r>
          </a:p>
          <a:p>
            <a:r>
              <a:rPr lang="en-US" dirty="0"/>
              <a:t>The whole of a project in Git is called a </a:t>
            </a:r>
            <a:r>
              <a:rPr lang="en-US" b="1" dirty="0"/>
              <a:t>repository.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F1FA-177B-7D62-C13E-6B44F21E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EEBA-E25A-3FF1-CB26-309ABE40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vs.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CE6C-C4A5-781C-4DFE-AC8F9D4BE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Git: the software.</a:t>
            </a:r>
          </a:p>
          <a:p>
            <a:r>
              <a:rPr lang="en-US" dirty="0" err="1"/>
              <a:t>Github</a:t>
            </a:r>
            <a:r>
              <a:rPr lang="en-US" dirty="0"/>
              <a:t>: a website that stores </a:t>
            </a:r>
            <a:r>
              <a:rPr lang="en-US" b="1" dirty="0"/>
              <a:t>copies of Git repositories</a:t>
            </a:r>
            <a:r>
              <a:rPr lang="en-US" dirty="0"/>
              <a:t>.</a:t>
            </a:r>
          </a:p>
          <a:p>
            <a:r>
              <a:rPr lang="en-US" dirty="0"/>
              <a:t>This allows you to do several new things</a:t>
            </a:r>
          </a:p>
          <a:p>
            <a:pPr lvl="1"/>
            <a:r>
              <a:rPr lang="en-US" dirty="0"/>
              <a:t>Sync up repositories across multiple machines</a:t>
            </a:r>
          </a:p>
          <a:p>
            <a:pPr lvl="1"/>
            <a:r>
              <a:rPr lang="en-US" dirty="0"/>
              <a:t>Share and collaborate repositories with others.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64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AAEB-2EFE-9F54-62F0-DDB8E875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B576-85D0-028F-7348-8F80CBCE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vs. </a:t>
            </a:r>
            <a:r>
              <a:rPr lang="en-US" dirty="0" err="1"/>
              <a:t>Github</a:t>
            </a:r>
            <a:r>
              <a:rPr lang="en-US" dirty="0"/>
              <a:t> vs. </a:t>
            </a:r>
            <a:r>
              <a:rPr lang="en-US" dirty="0" err="1"/>
              <a:t>Github</a:t>
            </a:r>
            <a:r>
              <a:rPr lang="en-US" dirty="0"/>
              <a:t> Desktop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3997D-2D12-72E1-F120-5C54A697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Desktop: a </a:t>
            </a:r>
            <a:r>
              <a:rPr lang="en-US" b="1" dirty="0"/>
              <a:t>graphical user interface</a:t>
            </a:r>
            <a:r>
              <a:rPr lang="en-US" dirty="0"/>
              <a:t> (GUI) that lets you use Git and </a:t>
            </a:r>
            <a:r>
              <a:rPr lang="en-US" dirty="0" err="1"/>
              <a:t>Github</a:t>
            </a:r>
            <a:r>
              <a:rPr lang="en-US" dirty="0"/>
              <a:t> more easily.</a:t>
            </a:r>
          </a:p>
          <a:p>
            <a:pPr lvl="1"/>
            <a:r>
              <a:rPr lang="en-US" dirty="0"/>
              <a:t>In its vanilla form, Git is used in the command line. </a:t>
            </a:r>
          </a:p>
          <a:p>
            <a:pPr lvl="1"/>
            <a:r>
              <a:rPr lang="en-US" dirty="0"/>
              <a:t>Computer scientists are good at this, but it is rather scary for many economists (including myself). </a:t>
            </a:r>
          </a:p>
          <a:p>
            <a:r>
              <a:rPr lang="en-US" dirty="0" err="1"/>
              <a:t>Github</a:t>
            </a:r>
            <a:r>
              <a:rPr lang="en-US" dirty="0"/>
              <a:t> lets you use Git by clicking intuitively named buttons instead of working in the command line. </a:t>
            </a:r>
          </a:p>
        </p:txBody>
      </p:sp>
    </p:spTree>
    <p:extLst>
      <p:ext uri="{BB962C8B-B14F-4D97-AF65-F5344CB8AC3E}">
        <p14:creationId xmlns:p14="http://schemas.microsoft.com/office/powerpoint/2010/main" val="323447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67E9-485E-28AC-5AE4-05E08163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C9F6-763E-2C61-FAA5-9FD9F465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terminology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5914-A548-1911-0DBA-AC0F815D0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094"/>
            <a:ext cx="10515600" cy="4351338"/>
          </a:xfrm>
        </p:spPr>
        <p:txBody>
          <a:bodyPr/>
          <a:lstStyle/>
          <a:p>
            <a:r>
              <a:rPr lang="en-US" dirty="0"/>
              <a:t>Commits: saved checkpoints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D35C8A1-BD37-48CF-F57D-AC9227397BF4}"/>
              </a:ext>
            </a:extLst>
          </p:cNvPr>
          <p:cNvSpPr/>
          <p:nvPr/>
        </p:nvSpPr>
        <p:spPr>
          <a:xfrm>
            <a:off x="585216" y="1938528"/>
            <a:ext cx="4937760" cy="4663440"/>
          </a:xfrm>
          <a:prstGeom prst="roundRect">
            <a:avLst>
              <a:gd name="adj" fmla="val 176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1F232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38F3C5C-1065-D4B6-E34A-16B5AA6B8029}"/>
              </a:ext>
            </a:extLst>
          </p:cNvPr>
          <p:cNvSpPr/>
          <p:nvPr/>
        </p:nvSpPr>
        <p:spPr>
          <a:xfrm>
            <a:off x="932688" y="2286000"/>
            <a:ext cx="768096" cy="7680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CA4DEF2-BF0B-3079-16F2-888359210729}"/>
              </a:ext>
            </a:extLst>
          </p:cNvPr>
          <p:cNvSpPr/>
          <p:nvPr/>
        </p:nvSpPr>
        <p:spPr>
          <a:xfrm>
            <a:off x="1209203" y="2562515"/>
            <a:ext cx="215067" cy="21506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DF2D5D0-4BE0-F88D-F3F2-55AC3459B5C1}"/>
              </a:ext>
            </a:extLst>
          </p:cNvPr>
          <p:cNvSpPr/>
          <p:nvPr/>
        </p:nvSpPr>
        <p:spPr>
          <a:xfrm>
            <a:off x="1865376" y="23500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a saved snapshot of your entire project at one point in time.</a:t>
            </a:r>
            <a:endParaRPr lang="en-US" sz="15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AC9300AA-7192-47C5-5927-2C0551A19268}"/>
              </a:ext>
            </a:extLst>
          </p:cNvPr>
          <p:cNvSpPr/>
          <p:nvPr/>
        </p:nvSpPr>
        <p:spPr>
          <a:xfrm>
            <a:off x="950976" y="3429000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0A7AD993-A5A8-F68E-799E-AE44742104F0}"/>
              </a:ext>
            </a:extLst>
          </p:cNvPr>
          <p:cNvSpPr/>
          <p:nvPr/>
        </p:nvSpPr>
        <p:spPr>
          <a:xfrm>
            <a:off x="1179576" y="33558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whenever you choose — typically after finishing a small, meaningful piece of work.</a:t>
            </a:r>
            <a:endParaRPr lang="en-US" sz="12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822A19F-2675-D4B8-855B-DCE41DE8C639}"/>
              </a:ext>
            </a:extLst>
          </p:cNvPr>
          <p:cNvSpPr/>
          <p:nvPr/>
        </p:nvSpPr>
        <p:spPr>
          <a:xfrm>
            <a:off x="950976" y="4206240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CF6AE25-49F6-6F06-0062-706C48A6DE8C}"/>
              </a:ext>
            </a:extLst>
          </p:cNvPr>
          <p:cNvSpPr/>
          <p:nvPr/>
        </p:nvSpPr>
        <p:spPr>
          <a:xfrm>
            <a:off x="1179576" y="41330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 short message describing what changed and why.</a:t>
            </a:r>
            <a:endParaRPr lang="en-US" sz="12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2F3EDB9-FB20-B1EB-BCD1-ADA25D9C0AB9}"/>
              </a:ext>
            </a:extLst>
          </p:cNvPr>
          <p:cNvSpPr/>
          <p:nvPr/>
        </p:nvSpPr>
        <p:spPr>
          <a:xfrm>
            <a:off x="950976" y="4983480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8FE8311-2C60-A1DE-6CC4-79021B8CDA84}"/>
              </a:ext>
            </a:extLst>
          </p:cNvPr>
          <p:cNvSpPr/>
          <p:nvPr/>
        </p:nvSpPr>
        <p:spPr>
          <a:xfrm>
            <a:off x="1179576" y="49103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Permanent: every commit stays in the history and can always be revisited.</a:t>
            </a:r>
            <a:endParaRPr lang="en-US" sz="12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A181889-29A1-D9F5-1186-0284F347A826}"/>
              </a:ext>
            </a:extLst>
          </p:cNvPr>
          <p:cNvSpPr/>
          <p:nvPr/>
        </p:nvSpPr>
        <p:spPr>
          <a:xfrm>
            <a:off x="950976" y="5760720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57FB636-A556-C07C-A597-8854431DB549}"/>
              </a:ext>
            </a:extLst>
          </p:cNvPr>
          <p:cNvSpPr/>
          <p:nvPr/>
        </p:nvSpPr>
        <p:spPr>
          <a:xfrm>
            <a:off x="1179576" y="56875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commits form a timeline you can scroll through, compare, or rewind.</a:t>
            </a:r>
            <a:endParaRPr lang="en-US" sz="125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64CD59EF-676A-9A77-A3F8-272AD341037D}"/>
              </a:ext>
            </a:extLst>
          </p:cNvPr>
          <p:cNvSpPr/>
          <p:nvPr/>
        </p:nvSpPr>
        <p:spPr>
          <a:xfrm>
            <a:off x="5751576" y="1938528"/>
            <a:ext cx="5897880" cy="4663440"/>
          </a:xfrm>
          <a:prstGeom prst="roundRect">
            <a:avLst>
              <a:gd name="adj" fmla="val 1765"/>
            </a:avLst>
          </a:prstGeom>
          <a:solidFill>
            <a:srgbClr val="0D1117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710D2232-8784-650B-242B-D27ADB88D72A}"/>
              </a:ext>
            </a:extLst>
          </p:cNvPr>
          <p:cNvSpPr/>
          <p:nvPr/>
        </p:nvSpPr>
        <p:spPr>
          <a:xfrm>
            <a:off x="6071616" y="2212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commit history</a:t>
            </a:r>
            <a:endParaRPr lang="en-US" sz="13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8EAD2236-61EC-6957-C0A9-FA3656EF062C}"/>
              </a:ext>
            </a:extLst>
          </p:cNvPr>
          <p:cNvSpPr/>
          <p:nvPr/>
        </p:nvSpPr>
        <p:spPr>
          <a:xfrm>
            <a:off x="6483096" y="2898648"/>
            <a:ext cx="0" cy="2852928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F447A0DF-E7B2-3B79-68AF-D75091039E4C}"/>
              </a:ext>
            </a:extLst>
          </p:cNvPr>
          <p:cNvSpPr/>
          <p:nvPr/>
        </p:nvSpPr>
        <p:spPr>
          <a:xfrm>
            <a:off x="6400800" y="2816352"/>
            <a:ext cx="164592" cy="164592"/>
          </a:xfrm>
          <a:prstGeom prst="ellipse">
            <a:avLst/>
          </a:prstGeom>
          <a:solidFill>
            <a:srgbClr val="2EA44F"/>
          </a:solidFill>
          <a:ln w="254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8349D03-A1B6-8297-EE15-934377BBCDE3}"/>
              </a:ext>
            </a:extLst>
          </p:cNvPr>
          <p:cNvSpPr/>
          <p:nvPr/>
        </p:nvSpPr>
        <p:spPr>
          <a:xfrm>
            <a:off x="6757416" y="2697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data cleaning script</a:t>
            </a:r>
            <a:endParaRPr lang="en-US" sz="120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A090F13A-D540-C93A-54AE-A84736DDDD67}"/>
              </a:ext>
            </a:extLst>
          </p:cNvPr>
          <p:cNvSpPr/>
          <p:nvPr/>
        </p:nvSpPr>
        <p:spPr>
          <a:xfrm>
            <a:off x="6400800" y="3529584"/>
            <a:ext cx="164592" cy="164592"/>
          </a:xfrm>
          <a:prstGeom prst="ellipse">
            <a:avLst/>
          </a:prstGeom>
          <a:solidFill>
            <a:srgbClr val="2EA44F"/>
          </a:solidFill>
          <a:ln w="254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CC8293EA-F193-F2CE-B550-3242C4522A7E}"/>
              </a:ext>
            </a:extLst>
          </p:cNvPr>
          <p:cNvSpPr/>
          <p:nvPr/>
        </p:nvSpPr>
        <p:spPr>
          <a:xfrm>
            <a:off x="6757416" y="34107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typo in variable labels</a:t>
            </a:r>
            <a:endParaRPr lang="en-US" sz="12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04745802-86CC-0F52-338C-EFC00D94DE95}"/>
              </a:ext>
            </a:extLst>
          </p:cNvPr>
          <p:cNvSpPr/>
          <p:nvPr/>
        </p:nvSpPr>
        <p:spPr>
          <a:xfrm>
            <a:off x="6400800" y="4242816"/>
            <a:ext cx="164592" cy="164592"/>
          </a:xfrm>
          <a:prstGeom prst="ellipse">
            <a:avLst/>
          </a:prstGeom>
          <a:solidFill>
            <a:srgbClr val="2EA44F"/>
          </a:solidFill>
          <a:ln w="254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50CD1E9-F15F-D0EE-FA97-2B856E58FA9A}"/>
              </a:ext>
            </a:extLst>
          </p:cNvPr>
          <p:cNvSpPr/>
          <p:nvPr/>
        </p:nvSpPr>
        <p:spPr>
          <a:xfrm>
            <a:off x="6757416" y="41239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robustness check for Table 3</a:t>
            </a:r>
            <a:endParaRPr lang="en-US" sz="120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FFE4B5B-8E72-CCF1-ADEF-6E1B4591F3B5}"/>
              </a:ext>
            </a:extLst>
          </p:cNvPr>
          <p:cNvSpPr/>
          <p:nvPr/>
        </p:nvSpPr>
        <p:spPr>
          <a:xfrm>
            <a:off x="6400800" y="4956048"/>
            <a:ext cx="164592" cy="164592"/>
          </a:xfrm>
          <a:prstGeom prst="ellipse">
            <a:avLst/>
          </a:prstGeom>
          <a:solidFill>
            <a:srgbClr val="2EA44F"/>
          </a:solidFill>
          <a:ln w="254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94FE91BB-9920-EC4F-E0B5-AF444A516D0C}"/>
              </a:ext>
            </a:extLst>
          </p:cNvPr>
          <p:cNvSpPr/>
          <p:nvPr/>
        </p:nvSpPr>
        <p:spPr>
          <a:xfrm>
            <a:off x="6757416" y="48371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figures after referee comments</a:t>
            </a:r>
            <a:endParaRPr lang="en-US" sz="12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7E83CCA0-A5B8-9235-58B6-56BF2F2900C6}"/>
              </a:ext>
            </a:extLst>
          </p:cNvPr>
          <p:cNvSpPr/>
          <p:nvPr/>
        </p:nvSpPr>
        <p:spPr>
          <a:xfrm>
            <a:off x="6400800" y="5669280"/>
            <a:ext cx="164592" cy="16459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CF4BA1E3-51EA-D395-25CD-9C74B2C1C679}"/>
              </a:ext>
            </a:extLst>
          </p:cNvPr>
          <p:cNvSpPr/>
          <p:nvPr/>
        </p:nvSpPr>
        <p:spPr>
          <a:xfrm>
            <a:off x="6757416" y="55504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proofread before submission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5851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3AF6-180A-F952-B269-69EECD8E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terminology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55421-728B-80C5-2765-549DB5CF3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289"/>
            <a:ext cx="10515600" cy="4351338"/>
          </a:xfrm>
        </p:spPr>
        <p:txBody>
          <a:bodyPr/>
          <a:lstStyle/>
          <a:p>
            <a:r>
              <a:rPr lang="en-US" dirty="0"/>
              <a:t>Branches: copies that you can edit without consequence.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F716914-9423-13E8-5E83-20DD110C7F3D}"/>
              </a:ext>
            </a:extLst>
          </p:cNvPr>
          <p:cNvSpPr/>
          <p:nvPr/>
        </p:nvSpPr>
        <p:spPr>
          <a:xfrm>
            <a:off x="838200" y="2075688"/>
            <a:ext cx="768096" cy="7680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4AF4EAA-1A16-1BAB-1B4E-5E88E0CE407C}"/>
              </a:ext>
            </a:extLst>
          </p:cNvPr>
          <p:cNvSpPr/>
          <p:nvPr/>
        </p:nvSpPr>
        <p:spPr>
          <a:xfrm>
            <a:off x="1068629" y="2594153"/>
            <a:ext cx="28803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50CE05D-DCDA-93CF-6748-78DABFFB749C}"/>
              </a:ext>
            </a:extLst>
          </p:cNvPr>
          <p:cNvSpPr/>
          <p:nvPr/>
        </p:nvSpPr>
        <p:spPr>
          <a:xfrm>
            <a:off x="1203046" y="2298436"/>
            <a:ext cx="0" cy="295717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361E202-F367-1141-04A2-53D8F18C7F5E}"/>
              </a:ext>
            </a:extLst>
          </p:cNvPr>
          <p:cNvSpPr/>
          <p:nvPr/>
        </p:nvSpPr>
        <p:spPr>
          <a:xfrm>
            <a:off x="1034064" y="2559588"/>
            <a:ext cx="69129" cy="6912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BCC885B5-1964-36FB-002A-2AF46643A82B}"/>
              </a:ext>
            </a:extLst>
          </p:cNvPr>
          <p:cNvSpPr/>
          <p:nvPr/>
        </p:nvSpPr>
        <p:spPr>
          <a:xfrm>
            <a:off x="1168481" y="2559588"/>
            <a:ext cx="69129" cy="6912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597F7A8-ED2B-6B5D-4B00-06A723A2EEBC}"/>
              </a:ext>
            </a:extLst>
          </p:cNvPr>
          <p:cNvSpPr/>
          <p:nvPr/>
        </p:nvSpPr>
        <p:spPr>
          <a:xfrm>
            <a:off x="1322100" y="2559588"/>
            <a:ext cx="69129" cy="6912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DA4FD2A7-5E6B-6573-DBD8-664C89B70217}"/>
              </a:ext>
            </a:extLst>
          </p:cNvPr>
          <p:cNvSpPr/>
          <p:nvPr/>
        </p:nvSpPr>
        <p:spPr>
          <a:xfrm>
            <a:off x="1168481" y="2263872"/>
            <a:ext cx="69129" cy="6912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8FC7B665-5FBE-E07C-3779-E243903B80D0}"/>
              </a:ext>
            </a:extLst>
          </p:cNvPr>
          <p:cNvSpPr/>
          <p:nvPr/>
        </p:nvSpPr>
        <p:spPr>
          <a:xfrm>
            <a:off x="1770888" y="209397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an independent copy of the project you can edit without affecting the main version.</a:t>
            </a:r>
            <a:endParaRPr lang="en-US" sz="15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7BCF22A5-8D51-2111-6105-7E6452EC36D8}"/>
              </a:ext>
            </a:extLst>
          </p:cNvPr>
          <p:cNvSpPr/>
          <p:nvPr/>
        </p:nvSpPr>
        <p:spPr>
          <a:xfrm>
            <a:off x="856488" y="3310128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86C8C9F7-3FCF-8E51-8883-0D4376C3F0AA}"/>
              </a:ext>
            </a:extLst>
          </p:cNvPr>
          <p:cNvSpPr/>
          <p:nvPr/>
        </p:nvSpPr>
        <p:spPr>
          <a:xfrm>
            <a:off x="1085088" y="323697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new specification, a big rewrite, or a risky idea in isolation.</a:t>
            </a:r>
            <a:endParaRPr lang="en-US" sz="125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ECA1B85-0D28-765A-8C8B-5232E7CAFECA}"/>
              </a:ext>
            </a:extLst>
          </p:cNvPr>
          <p:cNvSpPr/>
          <p:nvPr/>
        </p:nvSpPr>
        <p:spPr>
          <a:xfrm>
            <a:off x="856488" y="4087368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2D77597-C82D-E654-2649-96C3B20A386C}"/>
              </a:ext>
            </a:extLst>
          </p:cNvPr>
          <p:cNvSpPr/>
          <p:nvPr/>
        </p:nvSpPr>
        <p:spPr>
          <a:xfrm>
            <a:off x="1085088" y="401421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line of work (often called “main”) stays untouched and always usable.</a:t>
            </a:r>
            <a:endParaRPr lang="en-US" sz="125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A11A23D2-F541-AB58-4529-16D1E730149B}"/>
              </a:ext>
            </a:extLst>
          </p:cNvPr>
          <p:cNvSpPr/>
          <p:nvPr/>
        </p:nvSpPr>
        <p:spPr>
          <a:xfrm>
            <a:off x="856488" y="4864608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2B93F2D7-7DF1-F9A5-4708-8930BFC4EAD6}"/>
              </a:ext>
            </a:extLst>
          </p:cNvPr>
          <p:cNvSpPr/>
          <p:nvPr/>
        </p:nvSpPr>
        <p:spPr>
          <a:xfrm>
            <a:off x="1085088" y="47914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experiment works, merge the branch back in.</a:t>
            </a:r>
            <a:endParaRPr lang="en-US" sz="125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2A257F91-B186-70AA-542B-2C85CF840390}"/>
              </a:ext>
            </a:extLst>
          </p:cNvPr>
          <p:cNvSpPr/>
          <p:nvPr/>
        </p:nvSpPr>
        <p:spPr>
          <a:xfrm>
            <a:off x="856488" y="5641848"/>
            <a:ext cx="82296" cy="82296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EE3F895F-8C5D-5A31-0F7A-8AA21588A2EB}"/>
              </a:ext>
            </a:extLst>
          </p:cNvPr>
          <p:cNvSpPr/>
          <p:nvPr/>
        </p:nvSpPr>
        <p:spPr>
          <a:xfrm>
            <a:off x="1085088" y="556869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doesn't, delete the branch — main was never at risk.</a:t>
            </a:r>
            <a:endParaRPr lang="en-US" sz="125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78198C69-210D-CB2D-6F0B-441DF4B885C5}"/>
              </a:ext>
            </a:extLst>
          </p:cNvPr>
          <p:cNvSpPr/>
          <p:nvPr/>
        </p:nvSpPr>
        <p:spPr>
          <a:xfrm>
            <a:off x="5977128" y="26426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B407B33E-A3F7-333B-760C-E4ABFFB9F7CA}"/>
              </a:ext>
            </a:extLst>
          </p:cNvPr>
          <p:cNvSpPr/>
          <p:nvPr/>
        </p:nvSpPr>
        <p:spPr>
          <a:xfrm>
            <a:off x="6480048" y="3374136"/>
            <a:ext cx="4526280" cy="0"/>
          </a:xfrm>
          <a:prstGeom prst="line">
            <a:avLst/>
          </a:prstGeom>
          <a:noFill/>
          <a:ln w="317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5749E1AB-CCE1-75B5-D393-819EB0B04D49}"/>
              </a:ext>
            </a:extLst>
          </p:cNvPr>
          <p:cNvSpPr/>
          <p:nvPr/>
        </p:nvSpPr>
        <p:spPr>
          <a:xfrm>
            <a:off x="8537448" y="3374136"/>
            <a:ext cx="0" cy="1508760"/>
          </a:xfrm>
          <a:prstGeom prst="line">
            <a:avLst/>
          </a:prstGeom>
          <a:noFill/>
          <a:ln w="31750">
            <a:solidFill>
              <a:srgbClr val="2EA4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92D38D56-F0D6-68FB-1A9B-922CE739F9A8}"/>
              </a:ext>
            </a:extLst>
          </p:cNvPr>
          <p:cNvSpPr/>
          <p:nvPr/>
        </p:nvSpPr>
        <p:spPr>
          <a:xfrm>
            <a:off x="8537448" y="4882896"/>
            <a:ext cx="1920240" cy="0"/>
          </a:xfrm>
          <a:prstGeom prst="line">
            <a:avLst/>
          </a:prstGeom>
          <a:noFill/>
          <a:ln w="31750">
            <a:solidFill>
              <a:srgbClr val="2EA4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40AF775F-9C2F-622B-09D9-65BC4ECAE30B}"/>
              </a:ext>
            </a:extLst>
          </p:cNvPr>
          <p:cNvSpPr/>
          <p:nvPr/>
        </p:nvSpPr>
        <p:spPr>
          <a:xfrm>
            <a:off x="10457688" y="4882896"/>
            <a:ext cx="548640" cy="0"/>
          </a:xfrm>
          <a:prstGeom prst="line">
            <a:avLst/>
          </a:prstGeom>
          <a:noFill/>
          <a:ln w="31750">
            <a:solidFill>
              <a:srgbClr val="2EA4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F8AF3E9F-8F5F-B731-6142-A4B6F954B06D}"/>
              </a:ext>
            </a:extLst>
          </p:cNvPr>
          <p:cNvSpPr/>
          <p:nvPr/>
        </p:nvSpPr>
        <p:spPr>
          <a:xfrm>
            <a:off x="6397752" y="3291840"/>
            <a:ext cx="164592" cy="164592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685120A3-68C1-D67D-F9DB-430ADE35D3DB}"/>
              </a:ext>
            </a:extLst>
          </p:cNvPr>
          <p:cNvSpPr/>
          <p:nvPr/>
        </p:nvSpPr>
        <p:spPr>
          <a:xfrm>
            <a:off x="8455152" y="3291840"/>
            <a:ext cx="164592" cy="164592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61422357-DAD3-BB6D-995F-EDEB1F12F580}"/>
              </a:ext>
            </a:extLst>
          </p:cNvPr>
          <p:cNvSpPr/>
          <p:nvPr/>
        </p:nvSpPr>
        <p:spPr>
          <a:xfrm>
            <a:off x="10375392" y="3291840"/>
            <a:ext cx="164592" cy="164592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BF6321DF-B148-6F60-5F00-B9401043EE3C}"/>
              </a:ext>
            </a:extLst>
          </p:cNvPr>
          <p:cNvSpPr/>
          <p:nvPr/>
        </p:nvSpPr>
        <p:spPr>
          <a:xfrm>
            <a:off x="10924032" y="3291840"/>
            <a:ext cx="164592" cy="164592"/>
          </a:xfrm>
          <a:prstGeom prst="ellipse">
            <a:avLst/>
          </a:prstGeom>
          <a:solidFill>
            <a:srgbClr val="58A6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793B6E6A-B785-4825-F614-3B2478CFFA92}"/>
              </a:ext>
            </a:extLst>
          </p:cNvPr>
          <p:cNvSpPr/>
          <p:nvPr/>
        </p:nvSpPr>
        <p:spPr>
          <a:xfrm>
            <a:off x="8455152" y="4800600"/>
            <a:ext cx="164592" cy="164592"/>
          </a:xfrm>
          <a:prstGeom prst="ellipse">
            <a:avLst/>
          </a:prstGeom>
          <a:solidFill>
            <a:srgbClr val="2EA4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B5F02B0B-F8CD-FA26-138C-663A2ABAC73D}"/>
              </a:ext>
            </a:extLst>
          </p:cNvPr>
          <p:cNvSpPr/>
          <p:nvPr/>
        </p:nvSpPr>
        <p:spPr>
          <a:xfrm>
            <a:off x="9415272" y="4800600"/>
            <a:ext cx="164592" cy="164592"/>
          </a:xfrm>
          <a:prstGeom prst="ellipse">
            <a:avLst/>
          </a:prstGeom>
          <a:solidFill>
            <a:srgbClr val="2EA4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8B5F4E47-B5D8-7E7E-18F1-72EED2DA098D}"/>
              </a:ext>
            </a:extLst>
          </p:cNvPr>
          <p:cNvSpPr/>
          <p:nvPr/>
        </p:nvSpPr>
        <p:spPr>
          <a:xfrm>
            <a:off x="10375392" y="4800600"/>
            <a:ext cx="164592" cy="164592"/>
          </a:xfrm>
          <a:prstGeom prst="ellipse">
            <a:avLst/>
          </a:prstGeom>
          <a:solidFill>
            <a:srgbClr val="2EA4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B35D49BC-DA1E-948A-F3C6-207FDD265E87}"/>
              </a:ext>
            </a:extLst>
          </p:cNvPr>
          <p:cNvSpPr/>
          <p:nvPr/>
        </p:nvSpPr>
        <p:spPr>
          <a:xfrm>
            <a:off x="8263128" y="5020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feature/new-spec</a:t>
            </a:r>
            <a:endParaRPr lang="en-US" sz="1100" dirty="0"/>
          </a:p>
        </p:txBody>
      </p:sp>
      <p:sp>
        <p:nvSpPr>
          <p:cNvPr id="63" name="Text 33">
            <a:extLst>
              <a:ext uri="{FF2B5EF4-FFF2-40B4-BE49-F238E27FC236}">
                <a16:creationId xmlns:a16="http://schemas.microsoft.com/office/drawing/2014/main" id="{9FF366CE-572C-9C16-789B-9F7882749BF5}"/>
              </a:ext>
            </a:extLst>
          </p:cNvPr>
          <p:cNvSpPr/>
          <p:nvPr/>
        </p:nvSpPr>
        <p:spPr>
          <a:xfrm>
            <a:off x="10229088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39804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4DD7-3BF4-A8AF-6663-5522D68B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 and pulling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94C70-F944-684F-BCD7-D90F3D4DA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Commits and branches can live solely on your computer. Pushing and pulling refers to interacting with the outside world.</a:t>
            </a:r>
          </a:p>
          <a:p>
            <a:r>
              <a:rPr lang="en-US" b="1" dirty="0"/>
              <a:t>Pushing</a:t>
            </a:r>
            <a:r>
              <a:rPr lang="en-US" dirty="0"/>
              <a:t>: sending </a:t>
            </a:r>
            <a:r>
              <a:rPr lang="en-US" b="1" dirty="0"/>
              <a:t>commits</a:t>
            </a:r>
            <a:r>
              <a:rPr lang="en-US" dirty="0"/>
              <a:t> to a remote repository.</a:t>
            </a:r>
          </a:p>
          <a:p>
            <a:r>
              <a:rPr lang="en-US" b="1" dirty="0"/>
              <a:t>Pulling: </a:t>
            </a:r>
            <a:r>
              <a:rPr lang="en-US" dirty="0"/>
              <a:t>downloading commits from others (or from other machines). </a:t>
            </a:r>
          </a:p>
          <a:p>
            <a:r>
              <a:rPr lang="en-US" dirty="0"/>
              <a:t>How coauthors stay in sync: everyone </a:t>
            </a:r>
            <a:r>
              <a:rPr lang="en-US" b="1" dirty="0"/>
              <a:t>pulls</a:t>
            </a:r>
            <a:r>
              <a:rPr lang="en-US" dirty="0"/>
              <a:t> latest version, makes their local changes, and then pushes these changes back up.</a:t>
            </a:r>
          </a:p>
        </p:txBody>
      </p:sp>
    </p:spTree>
    <p:extLst>
      <p:ext uri="{BB962C8B-B14F-4D97-AF65-F5344CB8AC3E}">
        <p14:creationId xmlns:p14="http://schemas.microsoft.com/office/powerpoint/2010/main" val="360545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basic Git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04386" y="2834640"/>
            <a:ext cx="8582924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83762" y="2414016"/>
            <a:ext cx="841248" cy="841248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94074" y="2758928"/>
            <a:ext cx="147218" cy="925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94074" y="2813609"/>
            <a:ext cx="420624" cy="210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6041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1871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create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copy of the repo on your computer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12659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29493" y="2414016"/>
            <a:ext cx="841248" cy="841248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60836" y="2666390"/>
            <a:ext cx="378562" cy="5888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60836" y="2834640"/>
            <a:ext cx="378562" cy="5888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60836" y="3002890"/>
            <a:ext cx="378562" cy="5888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149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4411" y="3474720"/>
            <a:ext cx="1871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0131" y="388620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normal work — write code, fix a bug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58390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75224" y="2414016"/>
            <a:ext cx="841248" cy="841248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61248" y="2700040"/>
            <a:ext cx="269199" cy="269199"/>
          </a:xfrm>
          <a:prstGeom prst="plus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188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0142" y="3474720"/>
            <a:ext cx="1871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05862" y="388620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edits to include next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04121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820955" y="2414016"/>
            <a:ext cx="841248" cy="841248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23804" y="2716865"/>
            <a:ext cx="235549" cy="23554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97611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05873" y="3474720"/>
            <a:ext cx="1871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51593" y="388620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short message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9852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66686" y="2414016"/>
            <a:ext cx="841248" cy="84124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252710" y="2624328"/>
            <a:ext cx="269199" cy="420624"/>
          </a:xfrm>
          <a:prstGeom prst="up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64334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51604" y="3474720"/>
            <a:ext cx="18714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97324" y="388620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commits to GitHub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22272" y="4866619"/>
            <a:ext cx="8716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repeat: pull teammates' updates, edit, stage, commit, push — that loop is most of what you'll ever do.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025E-3706-C6E2-2B29-587DE067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B754-1507-7189-B7BD-5C73AA83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Important Git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0604-A357-E59D-9856-5BF99504F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Clone:</a:t>
            </a:r>
            <a:r>
              <a:rPr lang="en-US" dirty="0"/>
              <a:t> making a local copy of a remote repository on your computer.</a:t>
            </a:r>
          </a:p>
          <a:p>
            <a:r>
              <a:rPr lang="en-US" b="1" dirty="0"/>
              <a:t>Fetch: </a:t>
            </a:r>
            <a:r>
              <a:rPr lang="en-US" dirty="0"/>
              <a:t>download latest commits </a:t>
            </a:r>
            <a:r>
              <a:rPr lang="en-US" b="1" dirty="0"/>
              <a:t>without</a:t>
            </a:r>
            <a:r>
              <a:rPr lang="en-US" dirty="0"/>
              <a:t> altering your working files. </a:t>
            </a:r>
            <a:r>
              <a:rPr lang="en-US" b="1" dirty="0"/>
              <a:t>Pulling</a:t>
            </a:r>
            <a:r>
              <a:rPr lang="en-US" dirty="0"/>
              <a:t> does this </a:t>
            </a:r>
            <a:r>
              <a:rPr lang="en-US" b="1" dirty="0"/>
              <a:t>and </a:t>
            </a:r>
            <a:r>
              <a:rPr lang="en-US" dirty="0"/>
              <a:t> merges the changes into your active branch.</a:t>
            </a:r>
          </a:p>
          <a:p>
            <a:r>
              <a:rPr lang="en-US" b="1" dirty="0"/>
              <a:t>Merge: </a:t>
            </a:r>
            <a:r>
              <a:rPr lang="en-US" dirty="0"/>
              <a:t>combining code histories/changes from two branches into one.</a:t>
            </a:r>
          </a:p>
          <a:p>
            <a:pPr lvl="1"/>
            <a:r>
              <a:rPr lang="en-US" b="1" dirty="0"/>
              <a:t>Merge conflict: </a:t>
            </a:r>
            <a:r>
              <a:rPr lang="en-US" dirty="0"/>
              <a:t>This is when changes were made to the same line of code across different branches. Must be resolved manually.</a:t>
            </a:r>
          </a:p>
          <a:p>
            <a:r>
              <a:rPr lang="en-US" b="1" dirty="0"/>
              <a:t>Fork: </a:t>
            </a:r>
            <a:r>
              <a:rPr lang="en-US" dirty="0"/>
              <a:t>a personal copy of </a:t>
            </a:r>
            <a:r>
              <a:rPr lang="en-US" b="1" dirty="0"/>
              <a:t>someone else’s repository</a:t>
            </a:r>
            <a:r>
              <a:rPr lang="en-US" dirty="0"/>
              <a:t> on something like </a:t>
            </a:r>
            <a:r>
              <a:rPr lang="en-US" dirty="0" err="1"/>
              <a:t>Github</a:t>
            </a:r>
            <a:r>
              <a:rPr lang="en-US" dirty="0"/>
              <a:t>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0359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9178-6243-1CE6-4277-5FB1EAB2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32C4-1D5B-A86C-5849-C0764576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951D-A75F-5907-691F-3E8942CDB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  <a:p>
            <a:pPr lvl="1"/>
            <a:r>
              <a:rPr lang="en-US" dirty="0"/>
              <a:t>Download Git</a:t>
            </a:r>
          </a:p>
          <a:p>
            <a:pPr lvl="1"/>
            <a:r>
              <a:rPr lang="en-US" dirty="0"/>
              <a:t>Make an account at github.com</a:t>
            </a:r>
          </a:p>
          <a:p>
            <a:pPr lvl="1"/>
            <a:r>
              <a:rPr lang="en-US" dirty="0"/>
              <a:t>Install </a:t>
            </a:r>
            <a:r>
              <a:rPr lang="en-US" dirty="0" err="1"/>
              <a:t>Github</a:t>
            </a:r>
            <a:r>
              <a:rPr lang="en-US" dirty="0"/>
              <a:t> Desktop</a:t>
            </a:r>
          </a:p>
          <a:p>
            <a:pPr lvl="1"/>
            <a:r>
              <a:rPr lang="en-US" dirty="0"/>
              <a:t>Collaborate with others in class (see Problem set 1, Question 9). </a:t>
            </a:r>
          </a:p>
          <a:p>
            <a:r>
              <a:rPr lang="en-US" dirty="0"/>
              <a:t>Resources</a:t>
            </a:r>
          </a:p>
          <a:p>
            <a:pPr lvl="1"/>
            <a:r>
              <a:rPr lang="en-US" dirty="0"/>
              <a:t>Pro Git – standard reference</a:t>
            </a:r>
          </a:p>
          <a:p>
            <a:pPr lvl="1"/>
            <a:r>
              <a:rPr lang="en-US" dirty="0"/>
              <a:t>docs.github.com</a:t>
            </a:r>
          </a:p>
        </p:txBody>
      </p:sp>
    </p:spTree>
    <p:extLst>
      <p:ext uri="{BB962C8B-B14F-4D97-AF65-F5344CB8AC3E}">
        <p14:creationId xmlns:p14="http://schemas.microsoft.com/office/powerpoint/2010/main" val="192724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954</Words>
  <Application>Microsoft Office PowerPoint</Application>
  <PresentationFormat>Widescreen</PresentationFormat>
  <Paragraphs>122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ECON 5010</vt:lpstr>
      <vt:lpstr>PowerPoint Presentation</vt:lpstr>
      <vt:lpstr>Version control</vt:lpstr>
      <vt:lpstr>PowerPoint Presentation</vt:lpstr>
      <vt:lpstr>What Git does</vt:lpstr>
      <vt:lpstr>Visualizing this</vt:lpstr>
      <vt:lpstr>What is Git, specifically?</vt:lpstr>
      <vt:lpstr>Git vs. Github</vt:lpstr>
      <vt:lpstr>Git vs. Github vs. Github Desktop</vt:lpstr>
      <vt:lpstr>Core terminology and functions</vt:lpstr>
      <vt:lpstr>Core terminology and functions</vt:lpstr>
      <vt:lpstr>Pushing and pulling</vt:lpstr>
      <vt:lpstr>PowerPoint Presentation</vt:lpstr>
      <vt:lpstr>Other Important Git Terminology</vt:lpstr>
      <vt:lpstr>Resources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Anstreicher</dc:creator>
  <cp:lastModifiedBy>Anstreicher, Garrett</cp:lastModifiedBy>
  <cp:revision>38</cp:revision>
  <dcterms:created xsi:type="dcterms:W3CDTF">2026-08-06T19:01:41Z</dcterms:created>
  <dcterms:modified xsi:type="dcterms:W3CDTF">2026-09-08T14:14:58Z</dcterms:modified>
</cp:coreProperties>
</file>