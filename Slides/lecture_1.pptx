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85" r:id="rId5"/>
    <p:sldId id="271" r:id="rId6"/>
    <p:sldId id="272" r:id="rId7"/>
    <p:sldId id="273" r:id="rId8"/>
    <p:sldId id="274" r:id="rId9"/>
    <p:sldId id="275" r:id="rId10"/>
    <p:sldId id="276" r:id="rId11"/>
    <p:sldId id="284" r:id="rId12"/>
    <p:sldId id="280" r:id="rId13"/>
    <p:sldId id="281" r:id="rId14"/>
    <p:sldId id="282" r:id="rId15"/>
    <p:sldId id="283" r:id="rId16"/>
    <p:sldId id="278" r:id="rId17"/>
    <p:sldId id="266" r:id="rId18"/>
    <p:sldId id="268" r:id="rId19"/>
    <p:sldId id="279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166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ED78-9E7F-F395-31CA-5D2C1C3C9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180AE-94FC-6ED8-C0A8-83387CDA5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789FC-7D38-CE11-EED0-5097964ED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4A0DD-B3A1-13FB-C361-79668E249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DB1FD-A4AC-B0FC-8162-AD896731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96A0-9628-27EB-2866-0E8C6AF8D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BB199-DD5F-B298-D4E5-06C63A429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C45AB-46CB-4FAD-8AC0-C80B75B7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EC811-79BB-5FD9-871A-B47E7C7C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315BF-688C-32EB-0FBF-62E47D76B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6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868B-8392-BBF2-FEDF-6CF83AA8F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73AEB-2C5E-5558-5DD3-35D8236A1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122EE-9805-415F-C378-E22EE59C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5D7A5-B80B-D5C4-7679-4CAE6EE3D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1495D-B178-DAB5-2214-798D5B86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8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0C784-BEE4-A140-8BBD-5B243B5F5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8AC7C-873E-18E9-8A5E-200F7D3AD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D7908-70FF-CC79-803A-F1DCA351F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79593-7589-40C2-A377-D18A726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C8EBF-9A7D-B9E0-BABE-1E427421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B025A-BEBA-E244-E387-ACCA5299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17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03C7-FF65-1228-6CEA-964F9ADFA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A7360-8B42-B378-637D-8CF548222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55513-19CA-2FFF-4BDB-BC167A00D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987E0D-9395-93E7-063F-CFEB14B84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E0DDF-AC07-F8A6-78D7-6F665D9E5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475AC2-BAD7-FA80-6C83-65AEEDDED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38B5A-C0FB-BE84-7CF6-D7478AA3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5C8720-DE20-7EF2-F707-3D6A7AAF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46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EED13-745E-1444-378F-63F7AF17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287D1-C95D-FE29-035E-9CC88ACF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617AA-5B01-35E8-AD02-C8A3546A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8B10B3-50C6-EECA-2DBE-310F0D33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76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EC5DAF-BF98-0363-AF69-13325445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2EE968-FE9C-3FFB-46A1-5834E5ED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5E87F-8BEC-3259-D6EE-E79D56538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07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C260-5072-BDAE-A83D-CC40D33A8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3A2C8-9C7A-AF38-C068-1A29056C7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341C3-20BB-3A30-639A-610F0A597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81614-DD01-B69C-1A95-C6DF2B8DC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8FE97-1B4C-DC02-9853-69D3F57A3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FDBF6-A6BD-0422-2B74-3BC45911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61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B21DC-AE9D-966F-3D45-64C8BB6B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25F35A-4C26-E1CA-E009-52508AC41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C85B4-DC05-BC5B-3452-AAD055177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47F04-55DF-E70B-10EE-CAC0128D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CCEE9-6FE9-7A87-E2F6-886437BB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C0A3C-973E-661B-58FB-E7666F7E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87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9D93-C0E7-BFAD-D113-11AC2BE0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655B1-F563-1520-1D31-ED477BB46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5330F-8C7B-5127-B40F-F7281148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50D01-4D2A-9C93-E56F-3FC5FF55D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DC5F-CFEE-54BC-3903-088ED5DA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4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95DB6-53B2-F088-E9C3-D291F541A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0542A-1795-F268-E7D2-03198C77F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16DCE-09DA-DA98-3991-BE721494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0217D-3483-85BC-DBDA-F231ED09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3DFF7-4218-AA7E-6FAF-E6012A286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45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57C29A-6832-8124-95CE-1010E12EB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59E65-586A-069E-CE61-C4B73AFBB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F44B4-653B-A4AB-C485-90E70FC94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87302-C413-4239-9DD8-6AD4F02ACF8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F91F8-786D-F528-6FBC-B981FE7A5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ECFB7-04CF-A542-40EE-FC1F3F18F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F995A-6C4B-424D-AF1B-C0E81B236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81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missing.csail.mit.ed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50FFB-1452-AADD-0FEE-EAFBEE815D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Econ 5010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0ED75-45F4-B4FE-AD72-64C7AA4283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Applied Computational Methods in Economics and Finance </a:t>
            </a:r>
          </a:p>
          <a:p>
            <a:r>
              <a:rPr lang="en-US" b="1" dirty="0"/>
              <a:t>Garrett Anstreicher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506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F035-AC3D-A595-F05D-1786A8E9C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4A40A-8992-956D-BA4B-85EA1C9FF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  <a:p>
            <a:pPr lvl="1"/>
            <a:r>
              <a:rPr lang="en-US" dirty="0"/>
              <a:t>From Iowa City</a:t>
            </a:r>
          </a:p>
          <a:p>
            <a:pPr lvl="1"/>
            <a:r>
              <a:rPr lang="en-US" dirty="0"/>
              <a:t>Did my Ph.D. in Wisconsin, graduated in 2023.</a:t>
            </a:r>
          </a:p>
          <a:p>
            <a:pPr lvl="1"/>
            <a:r>
              <a:rPr lang="en-US" dirty="0"/>
              <a:t>Interests: labor economics (broadly speaking)</a:t>
            </a:r>
          </a:p>
          <a:p>
            <a:pPr lvl="1"/>
            <a:r>
              <a:rPr lang="en-US" dirty="0"/>
              <a:t>Enjoy structural and reduced-form methods</a:t>
            </a:r>
          </a:p>
          <a:p>
            <a:pPr lvl="1"/>
            <a:r>
              <a:rPr lang="en-US" dirty="0"/>
              <a:t>Hobbies: chess, reading, piano, tennis</a:t>
            </a:r>
          </a:p>
          <a:p>
            <a:r>
              <a:rPr lang="en-US" dirty="0"/>
              <a:t>And you?</a:t>
            </a:r>
          </a:p>
        </p:txBody>
      </p:sp>
    </p:spTree>
    <p:extLst>
      <p:ext uri="{BB962C8B-B14F-4D97-AF65-F5344CB8AC3E}">
        <p14:creationId xmlns:p14="http://schemas.microsoft.com/office/powerpoint/2010/main" val="296914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6F796-8CAC-265B-6BA3-59802950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ED96C-4DE3-0D1C-7F32-7B640697C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Computational methods, broadly speaking</a:t>
            </a:r>
          </a:p>
          <a:p>
            <a:r>
              <a:rPr lang="en-US" dirty="0"/>
              <a:t>Also some of the math that explains why these computational methods actually work/are legal.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77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A2D18-2502-36A9-0371-D3EDEFCD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34B2E-DC4D-4360-E053-A3F1AD3F1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  <a:p>
            <a:pPr lvl="1"/>
            <a:r>
              <a:rPr lang="en-US" dirty="0"/>
              <a:t>Many people enter an economics PhD program with good Stata/R knowhow but less in the way of numerical computing.</a:t>
            </a:r>
          </a:p>
          <a:p>
            <a:pPr lvl="1"/>
            <a:r>
              <a:rPr lang="en-US" dirty="0"/>
              <a:t>Also little formal CS training.</a:t>
            </a:r>
          </a:p>
          <a:p>
            <a:r>
              <a:rPr lang="en-US" dirty="0"/>
              <a:t>My CS training:</a:t>
            </a:r>
          </a:p>
          <a:p>
            <a:pPr lvl="2"/>
            <a:r>
              <a:rPr lang="en-US" dirty="0"/>
              <a:t>Intro comp sci in undergrad. Got a D on the final.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62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9D68-EA28-CA05-09FC-7B5AAC4E8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D6B7C-AF23-06A2-9F14-BB7CDFB48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this so useful?</a:t>
            </a:r>
          </a:p>
          <a:p>
            <a:r>
              <a:rPr lang="en-US" dirty="0"/>
              <a:t>A higher share of economic work is empirical in focus, but still lots of work that involves numerical computation</a:t>
            </a:r>
          </a:p>
          <a:p>
            <a:pPr lvl="1"/>
            <a:r>
              <a:rPr lang="en-US" dirty="0"/>
              <a:t>This is especially true in fields like macroeconomics and IO, but also happens in labor, public, etc.</a:t>
            </a:r>
          </a:p>
          <a:p>
            <a:r>
              <a:rPr lang="en-US" dirty="0"/>
              <a:t>One goal of this course: expand your research options</a:t>
            </a:r>
          </a:p>
          <a:p>
            <a:pPr lvl="1"/>
            <a:r>
              <a:rPr lang="en-US" dirty="0"/>
              <a:t>Not doing numerical work because it is not needed to answer a research question is a good reason.</a:t>
            </a:r>
          </a:p>
          <a:p>
            <a:pPr lvl="1"/>
            <a:r>
              <a:rPr lang="en-US" dirty="0"/>
              <a:t>Not doing numerical work because you think it is scary is a bad reason.</a:t>
            </a:r>
          </a:p>
        </p:txBody>
      </p:sp>
    </p:spTree>
    <p:extLst>
      <p:ext uri="{BB962C8B-B14F-4D97-AF65-F5344CB8AC3E}">
        <p14:creationId xmlns:p14="http://schemas.microsoft.com/office/powerpoint/2010/main" val="40337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B367-5BBE-0E1C-B9FF-17146B63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1D5DF-2765-5A8C-59A4-74307E8D0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goal: help you understand, talk intelligently about other research even if you don’t participate in it yourself</a:t>
            </a:r>
          </a:p>
          <a:p>
            <a:pPr lvl="1"/>
            <a:r>
              <a:rPr lang="en-US" dirty="0"/>
              <a:t>Nice in general to have an understanding of dynamic programming, estimation methods, and so on. </a:t>
            </a:r>
          </a:p>
          <a:p>
            <a:pPr lvl="2"/>
            <a:r>
              <a:rPr lang="en-US" dirty="0"/>
              <a:t>In part because some of it is just really cool.</a:t>
            </a:r>
          </a:p>
          <a:p>
            <a:pPr lvl="1"/>
            <a:r>
              <a:rPr lang="en-US" dirty="0"/>
              <a:t>Expands who you can talk to/potentially collaborate with on research. </a:t>
            </a:r>
          </a:p>
        </p:txBody>
      </p:sp>
    </p:spTree>
    <p:extLst>
      <p:ext uri="{BB962C8B-B14F-4D97-AF65-F5344CB8AC3E}">
        <p14:creationId xmlns:p14="http://schemas.microsoft.com/office/powerpoint/2010/main" val="98795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E9E93-1E3E-FBD6-3815-8787AA6D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8501-B2D8-B962-0C7E-61CE0985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E575-56CF-75B6-2A38-5E70A0129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 and perhaps most important objective: to save you </a:t>
            </a:r>
            <a:r>
              <a:rPr lang="en-US" b="1" dirty="0"/>
              <a:t>time</a:t>
            </a:r>
            <a:r>
              <a:rPr lang="en-US" dirty="0"/>
              <a:t> in the long run.</a:t>
            </a:r>
          </a:p>
          <a:p>
            <a:pPr lvl="1"/>
            <a:r>
              <a:rPr lang="en-US" dirty="0"/>
              <a:t>Beyond numerical computation, a more basic goal of this course is to help you understand why some code is fast and some code is slow.</a:t>
            </a:r>
          </a:p>
          <a:p>
            <a:pPr lvl="1"/>
            <a:r>
              <a:rPr lang="en-US" dirty="0"/>
              <a:t>We will also talk about things like version control, debugging, and agentic coding. </a:t>
            </a:r>
          </a:p>
          <a:p>
            <a:pPr lvl="1"/>
            <a:r>
              <a:rPr lang="en-US" dirty="0"/>
              <a:t>Using these tools effectively saves gargantuan amounts of time in the long run.</a:t>
            </a:r>
          </a:p>
          <a:p>
            <a:r>
              <a:rPr lang="en-US" dirty="0"/>
              <a:t>Early on in grad school, it may feel like ideas are the scarce resource</a:t>
            </a:r>
          </a:p>
          <a:p>
            <a:pPr lvl="1"/>
            <a:r>
              <a:rPr lang="en-US" dirty="0"/>
              <a:t>This will change before long. Eventually, the scarce resource will be time.</a:t>
            </a:r>
          </a:p>
        </p:txBody>
      </p:sp>
    </p:spTree>
    <p:extLst>
      <p:ext uri="{BB962C8B-B14F-4D97-AF65-F5344CB8AC3E}">
        <p14:creationId xmlns:p14="http://schemas.microsoft.com/office/powerpoint/2010/main" val="3641187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30D71-2CC3-D888-E452-9D01CFDF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1CFD-7FFB-721D-5927-92C51C3C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A5DA8-99C5-576C-CED5-CC2588185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have about 15 weeks together, all told.</a:t>
            </a:r>
          </a:p>
          <a:p>
            <a:r>
              <a:rPr lang="en-US" dirty="0"/>
              <a:t>Five modules, each three weeks long.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Module 1: Basics of programming and computer usage</a:t>
            </a:r>
          </a:p>
          <a:p>
            <a:pPr marL="514350" indent="-514350">
              <a:buAutoNum type="arabicParenR"/>
            </a:pPr>
            <a:r>
              <a:rPr lang="en-US" dirty="0"/>
              <a:t>Module 2: Optimization</a:t>
            </a:r>
          </a:p>
          <a:p>
            <a:pPr marL="514350" indent="-514350">
              <a:buAutoNum type="arabicParenR"/>
            </a:pPr>
            <a:r>
              <a:rPr lang="en-US" dirty="0"/>
              <a:t>Module 3: Dynamic programming</a:t>
            </a:r>
          </a:p>
          <a:p>
            <a:pPr marL="514350" indent="-514350">
              <a:buAutoNum type="arabicParenR"/>
            </a:pPr>
            <a:r>
              <a:rPr lang="en-US" dirty="0"/>
              <a:t>Module 4: Estimation methods</a:t>
            </a:r>
          </a:p>
          <a:p>
            <a:pPr marL="514350" indent="-514350">
              <a:buAutoNum type="arabicParenR"/>
            </a:pPr>
            <a:r>
              <a:rPr lang="en-US" dirty="0"/>
              <a:t>Module 5: Workhorse applications</a:t>
            </a:r>
          </a:p>
        </p:txBody>
      </p:sp>
    </p:spTree>
    <p:extLst>
      <p:ext uri="{BB962C8B-B14F-4D97-AF65-F5344CB8AC3E}">
        <p14:creationId xmlns:p14="http://schemas.microsoft.com/office/powerpoint/2010/main" val="116617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30C0-8802-A432-9AF4-3DA59CB84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8630-240E-32BB-D9F0-CEDF1FD05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1: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BC81-34DE-491E-D784-4659D9A62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Borrows from MIT’s “Missing Semester of your CS Education”</a:t>
            </a:r>
          </a:p>
          <a:p>
            <a:pPr lvl="1"/>
            <a:r>
              <a:rPr lang="en-US" dirty="0">
                <a:hlinkClick r:id="rId2"/>
              </a:rPr>
              <a:t>https://missing.csail.mit.edu/</a:t>
            </a:r>
            <a:endParaRPr lang="en-US" dirty="0"/>
          </a:p>
          <a:p>
            <a:r>
              <a:rPr lang="en-US" dirty="0"/>
              <a:t>This part of the class is more about speed than anything else</a:t>
            </a:r>
          </a:p>
          <a:p>
            <a:pPr lvl="1"/>
            <a:r>
              <a:rPr lang="en-US" dirty="0"/>
              <a:t>Why is some code fast and some code slow?</a:t>
            </a:r>
          </a:p>
          <a:p>
            <a:pPr lvl="1"/>
            <a:r>
              <a:rPr lang="en-US" dirty="0"/>
              <a:t>What do words like “compilation” or “vectorization” even mean?</a:t>
            </a:r>
          </a:p>
          <a:p>
            <a:pPr lvl="1"/>
            <a:r>
              <a:rPr lang="en-US" dirty="0"/>
              <a:t>How can you avoid wasting huge amounts of time with bugs and version control </a:t>
            </a:r>
            <a:r>
              <a:rPr lang="en-US" dirty="0" err="1"/>
              <a:t>mixups</a:t>
            </a:r>
            <a:r>
              <a:rPr lang="en-US" dirty="0"/>
              <a:t>?</a:t>
            </a:r>
          </a:p>
          <a:p>
            <a:r>
              <a:rPr lang="en-US" dirty="0"/>
              <a:t>This part of the class, and the class in general, will be taught in the Julia programming language.</a:t>
            </a:r>
          </a:p>
          <a:p>
            <a:r>
              <a:rPr lang="en-US" dirty="0"/>
              <a:t>Roughly half the classes will be dedicated to “</a:t>
            </a:r>
            <a:r>
              <a:rPr lang="en-US" dirty="0" err="1"/>
              <a:t>codealongs</a:t>
            </a:r>
            <a:r>
              <a:rPr lang="en-US" dirty="0"/>
              <a:t>.”</a:t>
            </a:r>
          </a:p>
          <a:p>
            <a:pPr lvl="1"/>
            <a:r>
              <a:rPr lang="en-US" dirty="0"/>
              <a:t>I will work with code on the big screen, and we can write and talk about it together.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44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D9BE-BA4C-F26A-E96F-DC307C882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2: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0CCD4-1B55-2EAD-DDB0-ED896DC0B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we maximize or minimize functions?</a:t>
            </a:r>
          </a:p>
          <a:p>
            <a:r>
              <a:rPr lang="en-US" dirty="0"/>
              <a:t>This sounds vague, but it happens all the time in economics</a:t>
            </a:r>
          </a:p>
          <a:p>
            <a:pPr lvl="1"/>
            <a:r>
              <a:rPr lang="en-US" dirty="0"/>
              <a:t>In most economic models, agents are trying to </a:t>
            </a:r>
            <a:r>
              <a:rPr lang="en-US" b="1" dirty="0"/>
              <a:t>optimize</a:t>
            </a:r>
            <a:r>
              <a:rPr lang="en-US" dirty="0"/>
              <a:t> over a set of choices.</a:t>
            </a:r>
          </a:p>
          <a:p>
            <a:pPr lvl="1"/>
            <a:r>
              <a:rPr lang="en-US" dirty="0"/>
              <a:t>When </a:t>
            </a:r>
            <a:r>
              <a:rPr lang="en-US" b="1" dirty="0"/>
              <a:t>estimating</a:t>
            </a:r>
            <a:r>
              <a:rPr lang="en-US" dirty="0"/>
              <a:t> a model, we are choosing the parameters that maximize or minimize some feature of the model compared to the data.</a:t>
            </a:r>
          </a:p>
          <a:p>
            <a:pPr lvl="1"/>
            <a:r>
              <a:rPr lang="en-US" dirty="0"/>
              <a:t>Even least squares is an optimizing problem: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E90A2-D541-89A1-B257-6CB082BA9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886" y="4707742"/>
            <a:ext cx="4582164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6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6818-B2CB-A7E0-85FF-9E024762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2: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FB15B-9CC5-EE4A-6177-B54337192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the time, though, we don’t have the luxury of algebraic solutions or derivatives. This is where computers come in.</a:t>
            </a:r>
          </a:p>
          <a:p>
            <a:r>
              <a:rPr lang="en-US" dirty="0"/>
              <a:t>We will discuss a variety of optimization problems and some of the math that guarantees we can solve them in the first place, including</a:t>
            </a:r>
          </a:p>
          <a:p>
            <a:pPr lvl="1"/>
            <a:r>
              <a:rPr lang="en-US" dirty="0"/>
              <a:t>Linear optimization</a:t>
            </a:r>
          </a:p>
          <a:p>
            <a:pPr lvl="1"/>
            <a:r>
              <a:rPr lang="en-US" dirty="0"/>
              <a:t>Non-linear optimization</a:t>
            </a:r>
          </a:p>
          <a:p>
            <a:pPr lvl="1"/>
            <a:r>
              <a:rPr lang="en-US" dirty="0"/>
              <a:t>“Black box” optimization</a:t>
            </a:r>
          </a:p>
        </p:txBody>
      </p:sp>
    </p:spTree>
    <p:extLst>
      <p:ext uri="{BB962C8B-B14F-4D97-AF65-F5344CB8AC3E}">
        <p14:creationId xmlns:p14="http://schemas.microsoft.com/office/powerpoint/2010/main" val="155767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8555F-72ED-6001-98BF-ED7042C2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E36C2-E0B3-315B-9A09-3C80072F1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3: Dynamic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40A12-858D-3945-8839-90473E1D9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Maybe a word you’ve heard before.</a:t>
            </a:r>
          </a:p>
          <a:p>
            <a:r>
              <a:rPr lang="en-US" dirty="0"/>
              <a:t>Sounds fancy, but what this really is </a:t>
            </a:r>
            <a:r>
              <a:rPr lang="en-US" dirty="0" err="1"/>
              <a:t>is</a:t>
            </a:r>
            <a:r>
              <a:rPr lang="en-US" dirty="0"/>
              <a:t> an algorithmic technique for breaking down big problems into little ones.</a:t>
            </a:r>
          </a:p>
          <a:p>
            <a:r>
              <a:rPr lang="en-US" dirty="0"/>
              <a:t>Cool in its own right and has many applications in economics.</a:t>
            </a:r>
          </a:p>
        </p:txBody>
      </p:sp>
    </p:spTree>
    <p:extLst>
      <p:ext uri="{BB962C8B-B14F-4D97-AF65-F5344CB8AC3E}">
        <p14:creationId xmlns:p14="http://schemas.microsoft.com/office/powerpoint/2010/main" val="26187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0D0D7-389E-006B-A138-6CC73C70A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8873-FB78-29BC-5FF2-DE0029CC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4: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E91E4-A5B4-6F6E-7C52-B092F9CA3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choose parameters for economic models? This is what estimation means, in English.</a:t>
            </a:r>
          </a:p>
          <a:p>
            <a:r>
              <a:rPr lang="en-US" dirty="0"/>
              <a:t>OLS is again an example of this, but usually this isn’t so easy.</a:t>
            </a:r>
          </a:p>
          <a:p>
            <a:r>
              <a:rPr lang="en-US" dirty="0"/>
              <a:t>Common numerical approaches that we will go over:</a:t>
            </a:r>
          </a:p>
          <a:p>
            <a:pPr lvl="1"/>
            <a:r>
              <a:rPr lang="en-US" dirty="0"/>
              <a:t>Maximum likelihood</a:t>
            </a:r>
          </a:p>
          <a:p>
            <a:pPr lvl="1"/>
            <a:r>
              <a:rPr lang="en-US" dirty="0"/>
              <a:t>Simulated method of moments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02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3214D-6D8D-E2AB-C705-96D94757D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FE8AA-ABD4-412D-5B79-67B8109C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5: Workhorse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1B05E-574A-1DCC-534C-36A2822BE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Modules 1-4 will build up to us being able to work through some really interesting and important models, start to finish.</a:t>
            </a:r>
          </a:p>
          <a:p>
            <a:r>
              <a:rPr lang="en-US" dirty="0"/>
              <a:t>Current plan:</a:t>
            </a:r>
          </a:p>
          <a:p>
            <a:pPr lvl="1"/>
            <a:r>
              <a:rPr lang="en-US" dirty="0"/>
              <a:t>The McCall search model (macro/labor)</a:t>
            </a:r>
          </a:p>
          <a:p>
            <a:pPr lvl="1"/>
            <a:r>
              <a:rPr lang="en-US" dirty="0"/>
              <a:t>The Lucas asset pricing model (finance)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Hopenhayn</a:t>
            </a:r>
            <a:r>
              <a:rPr lang="en-US" dirty="0"/>
              <a:t> model of firm entry (IO)</a:t>
            </a:r>
          </a:p>
          <a:p>
            <a:r>
              <a:rPr lang="en-US" dirty="0"/>
              <a:t>Suggestions for anything that you would like to see are extremely welcome!</a:t>
            </a:r>
          </a:p>
        </p:txBody>
      </p:sp>
    </p:spTree>
    <p:extLst>
      <p:ext uri="{BB962C8B-B14F-4D97-AF65-F5344CB8AC3E}">
        <p14:creationId xmlns:p14="http://schemas.microsoft.com/office/powerpoint/2010/main" val="18310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35E2-5A8A-EA66-2622-50F01F73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9C45D-A575-3A3C-BFDE-987990E3F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11 AM-1PM, C220N PBB</a:t>
            </a:r>
          </a:p>
          <a:p>
            <a:r>
              <a:rPr lang="en-US" dirty="0"/>
              <a:t>Or by appointment.</a:t>
            </a:r>
          </a:p>
          <a:p>
            <a:r>
              <a:rPr lang="en-US" dirty="0"/>
              <a:t>Let me know if this does not work and I can try to adjust.</a:t>
            </a:r>
          </a:p>
        </p:txBody>
      </p:sp>
    </p:spTree>
    <p:extLst>
      <p:ext uri="{BB962C8B-B14F-4D97-AF65-F5344CB8AC3E}">
        <p14:creationId xmlns:p14="http://schemas.microsoft.com/office/powerpoint/2010/main" val="403042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1170-4BE9-2BCA-36AC-DB1564D1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333A8-8085-9C6F-E5BA-8A92E287F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of the first </a:t>
            </a:r>
            <a:r>
              <a:rPr lang="en-US" b="1" dirty="0"/>
              <a:t>four</a:t>
            </a:r>
            <a:r>
              <a:rPr lang="en-US" dirty="0"/>
              <a:t> Modules will have an accompanying problem set.</a:t>
            </a:r>
          </a:p>
          <a:p>
            <a:pPr lvl="1"/>
            <a:r>
              <a:rPr lang="en-US" dirty="0"/>
              <a:t>Each worth 15% of your grade.</a:t>
            </a:r>
          </a:p>
          <a:p>
            <a:pPr lvl="1"/>
            <a:r>
              <a:rPr lang="en-US" dirty="0"/>
              <a:t>You are welcome to work together, but please honestly list contributions if you do.</a:t>
            </a:r>
          </a:p>
          <a:p>
            <a:pPr lvl="1"/>
            <a:r>
              <a:rPr lang="en-US" dirty="0"/>
              <a:t>I advise against procrastinating on these. They will be challenging.</a:t>
            </a:r>
          </a:p>
          <a:p>
            <a:r>
              <a:rPr lang="en-US" dirty="0"/>
              <a:t>For Module 5, you have a more open-ended term project of coding up and analyzing a simple model of something that you are interested in.</a:t>
            </a:r>
          </a:p>
          <a:p>
            <a:pPr lvl="1"/>
            <a:r>
              <a:rPr lang="en-US" dirty="0"/>
              <a:t>Deadlines for ensuring progress on this project are in the syllabus.</a:t>
            </a:r>
          </a:p>
        </p:txBody>
      </p:sp>
    </p:spTree>
    <p:extLst>
      <p:ext uri="{BB962C8B-B14F-4D97-AF65-F5344CB8AC3E}">
        <p14:creationId xmlns:p14="http://schemas.microsoft.com/office/powerpoint/2010/main" val="310206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F035-AC3D-A595-F05D-1786A8E9C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should you approach this class?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4A40A-8992-956D-BA4B-85EA1C9FF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when tests scores and grades start to matter a lot less.</a:t>
            </a:r>
          </a:p>
          <a:p>
            <a:r>
              <a:rPr lang="en-US" dirty="0"/>
              <a:t>You are now trying to get to a point where you can produce your own novel research.</a:t>
            </a:r>
          </a:p>
          <a:p>
            <a:r>
              <a:rPr lang="en-US" dirty="0"/>
              <a:t>ChatGPT or Claude can probably do all the work assigned in this class in about 5 minutes.</a:t>
            </a:r>
          </a:p>
          <a:p>
            <a:pPr lvl="1"/>
            <a:r>
              <a:rPr lang="en-US" dirty="0"/>
              <a:t>But you do not have a robot lift weights for you at the gym.</a:t>
            </a:r>
          </a:p>
          <a:p>
            <a:pPr lvl="1"/>
            <a:r>
              <a:rPr lang="en-US" dirty="0"/>
              <a:t>Far more important that you </a:t>
            </a:r>
            <a:r>
              <a:rPr lang="en-US" b="1" dirty="0"/>
              <a:t>learn</a:t>
            </a:r>
            <a:r>
              <a:rPr lang="en-US" dirty="0"/>
              <a:t> than get all the “right answers.”</a:t>
            </a:r>
          </a:p>
          <a:p>
            <a:r>
              <a:rPr lang="en-US" dirty="0"/>
              <a:t>Note: in my experience, copying code can actually be a quite good way to learn</a:t>
            </a:r>
          </a:p>
          <a:p>
            <a:pPr lvl="1"/>
            <a:r>
              <a:rPr lang="en-US" b="1" dirty="0"/>
              <a:t>AS LONG AS YOU DON’T ACTUALLY COPY-AND-PASTE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7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0AEC-B0D7-4CC1-B33C-E603C057B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Googling is an important programming skill</a:t>
            </a:r>
          </a:p>
        </p:txBody>
      </p:sp>
      <p:pic>
        <p:nvPicPr>
          <p:cNvPr id="5" name="Content Placeholder 4" descr="A picture containing toy, teddy, bear, sitting&#10;&#10;Description automatically generated">
            <a:extLst>
              <a:ext uri="{FF2B5EF4-FFF2-40B4-BE49-F238E27FC236}">
                <a16:creationId xmlns:a16="http://schemas.microsoft.com/office/drawing/2014/main" id="{83430B99-5185-47B0-A3DD-91C85B168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499390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E606E-DFE7-3B95-2D44-55DC1A5F2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7DE7-8896-8A96-73E1-772DC8E0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should you approach this class?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5C001-37AE-013E-3345-B39A06204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Everybody has to do bad research before they can do good research.</a:t>
            </a:r>
          </a:p>
          <a:p>
            <a:pPr lvl="1"/>
            <a:r>
              <a:rPr lang="en-US" dirty="0"/>
              <a:t>Myself included.</a:t>
            </a:r>
          </a:p>
          <a:p>
            <a:r>
              <a:rPr lang="en-US" dirty="0"/>
              <a:t>The more aggressively and enthusiastically you do bad research now, the faster you get to do good research in the future.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50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CC17C-2AC9-E5CF-D5B0-A07BA1F5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Thursday’s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33413-67A8-016E-A558-759E1CB0D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start coding!</a:t>
            </a:r>
          </a:p>
          <a:p>
            <a:r>
              <a:rPr lang="en-US" dirty="0"/>
              <a:t>To prepare: install a Julia environment</a:t>
            </a:r>
          </a:p>
          <a:p>
            <a:pPr lvl="1"/>
            <a:r>
              <a:rPr lang="en-US" dirty="0"/>
              <a:t>I will post a video on Icon going over how to do this.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46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1176</Words>
  <Application>Microsoft Office PowerPoint</Application>
  <PresentationFormat>Widescreen</PresentationFormat>
  <Paragraphs>116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Econ 5010</vt:lpstr>
      <vt:lpstr>Introductions</vt:lpstr>
      <vt:lpstr>This class</vt:lpstr>
      <vt:lpstr>This class</vt:lpstr>
      <vt:lpstr>This class</vt:lpstr>
      <vt:lpstr>This class</vt:lpstr>
      <vt:lpstr>This class</vt:lpstr>
      <vt:lpstr>Course structure</vt:lpstr>
      <vt:lpstr>Module 1: Basics</vt:lpstr>
      <vt:lpstr>Module 2: Optimization</vt:lpstr>
      <vt:lpstr>Module 2: Optimization</vt:lpstr>
      <vt:lpstr>Module 3: Dynamic Programming</vt:lpstr>
      <vt:lpstr>Module 4: Estimation</vt:lpstr>
      <vt:lpstr>Module 5: Workhorse Applications</vt:lpstr>
      <vt:lpstr>Office Hours</vt:lpstr>
      <vt:lpstr>Evaluation</vt:lpstr>
      <vt:lpstr>How should you approach this class?</vt:lpstr>
      <vt:lpstr>Googling is an important programming skill</vt:lpstr>
      <vt:lpstr>How should you approach this class?</vt:lpstr>
      <vt:lpstr>Thursday’s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Anstreicher</dc:creator>
  <cp:lastModifiedBy>Anstreicher, Garrett</cp:lastModifiedBy>
  <cp:revision>52</cp:revision>
  <dcterms:created xsi:type="dcterms:W3CDTF">2024-08-27T16:19:26Z</dcterms:created>
  <dcterms:modified xsi:type="dcterms:W3CDTF">2026-08-25T15:52:21Z</dcterms:modified>
</cp:coreProperties>
</file>