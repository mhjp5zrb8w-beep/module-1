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8" r:id="rId5"/>
    <p:sldId id="269" r:id="rId6"/>
    <p:sldId id="270" r:id="rId7"/>
    <p:sldId id="271" r:id="rId8"/>
    <p:sldId id="272" r:id="rId9"/>
    <p:sldId id="273" r:id="rId10"/>
    <p:sldId id="257" r:id="rId11"/>
    <p:sldId id="274" r:id="rId12"/>
    <p:sldId id="27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B1CF7-6EC5-46DD-C0D2-04B2DBC820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0E9356-88CB-20D8-DC01-D5B60B9B2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37DB8-D253-3A5A-3A33-A5D8C572C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5A94-5088-43EF-B815-53F6BA297BE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98A10-93FB-7546-D0AF-7A77E69FD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7BDA4-F06C-B032-148E-9D8ECBE31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199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078B2-9EE0-B5E5-2904-B5F990C69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36878-3AEE-0BA3-CB25-62DC8BBE8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887BB-C2F3-9FB8-1E22-54C05AD79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5A94-5088-43EF-B815-53F6BA297BE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9ED91-9B1B-57A0-0B1A-D8B024D23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95437-CDD7-126A-6550-F22FF8889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20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1C9C1-E374-4A72-306A-6492DC197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52E3F-4212-5887-1224-50788400B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8E351-D2BC-3A90-D0A5-C2C8F9DD7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5A94-5088-43EF-B815-53F6BA297BE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AF142-E89D-38F0-D3F8-0FBC4BD6A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E006E-015B-9784-842A-C394CB6C3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077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D39BC-3196-6534-7F32-3B7BAE816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F0A58-09B2-9DCC-CC7F-12467A960B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5C4ED8-A328-7466-8637-12BA2329B5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ADD35-3D98-3F5E-9E3A-5D7069522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5A94-5088-43EF-B815-53F6BA297BE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A8D15D-3A18-0BAD-48E2-484BB68A5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9860D7-1FF2-E56F-1096-8576C4408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902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ED4EF-0D03-FB6F-B678-A6EC394CF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7E67E-B16B-D7B4-C18A-0E2E54E71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D2BF6-3B04-D829-5765-749C7A3A8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E4C4B-89A2-A1ED-2934-411CB7A281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E89B8A-BE2A-C830-D89F-69E43386EA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28AC6F-94E7-8CFC-72F0-CA888E4E8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5A94-5088-43EF-B815-53F6BA297BE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068DD7-A7D6-17BD-5D91-B8E99621F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575185-0732-EF95-D910-32DABFF83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794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0802F-0B3B-6167-EA98-5C2FC1347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E9AB04-BB82-EB30-0B97-1F540E3D5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5A94-5088-43EF-B815-53F6BA297BE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AFD10-1522-A793-E033-EC250D90A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37C5BA-7640-8B75-B121-F1837BD34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384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E8E06A-8B04-D5A6-ADFB-079B9F6A6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5A94-5088-43EF-B815-53F6BA297BE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9B3DFB-C520-D218-DE5D-276AA0806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DC481-A6F4-F25B-39C5-AC5AEE2A5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08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DECAF-61F6-72C1-5928-BB2AD0DAE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CB707-0F07-B916-5B9D-2C1F8E138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9A3D2A-3EC1-B71C-60BA-C8876EBB88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B0A44D-6927-EC16-87E1-09D7F3B92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5A94-5088-43EF-B815-53F6BA297BE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BD5E51-0ABD-1127-40E5-49B5582F4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01C5A4-5A63-6F02-0DF4-1FD04B19F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186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2FCA2-1DAB-0431-9434-41650A7C7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24B6FD-A433-03A6-D6D4-25BECA88D5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3C319-0741-B419-5E47-8443EA5B90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FEB1EF-586D-3E32-502C-E696CBFCA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5A94-5088-43EF-B815-53F6BA297BE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971C58-D253-70C8-3862-EBC2C5BB6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5B3662-E3E0-1D1A-CBE3-621C7A4ED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938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A2366-B0DD-720F-556B-DCC94F13E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F3EAA6-8345-26F9-8FD5-D2FD6619C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B1320-34A0-C929-F4F2-084F2A938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5A94-5088-43EF-B815-53F6BA297BE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48215-3AE4-80B8-9DDF-984B7655C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DBEAB-152B-B2FE-A297-EE9E449B8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326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86BBD7-F6C5-4547-9D9D-4DCEA7D82F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E6EB9E-7FB6-0C3A-613C-801362CF02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475A9-6845-7DBC-4B21-3AC8690F3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5A94-5088-43EF-B815-53F6BA297BE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923CE-A5D6-2733-6D94-2B614B651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3514D-3B53-7760-0DF8-65C111C9B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798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07C7B5-4840-38DE-7C76-D6300E8A1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D2AF1C-920C-1CF1-3658-3F9B6672F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9D3B9-5F3F-A205-96C7-227A103032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9F5A94-5088-43EF-B815-53F6BA297BE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42CA3-2085-F20B-977B-E42E9F6240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8AD0A-31BC-6E45-8956-91A6C29984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550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05569-FB1D-2425-0BB8-D81D1D748E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ECON 5010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87280A-7264-DC9C-B390-6E381394C0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4 – Performance</a:t>
            </a:r>
          </a:p>
        </p:txBody>
      </p:sp>
    </p:spTree>
    <p:extLst>
      <p:ext uri="{BB962C8B-B14F-4D97-AF65-F5344CB8AC3E}">
        <p14:creationId xmlns:p14="http://schemas.microsoft.com/office/powerpoint/2010/main" val="1216998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AF316-8E01-420A-8226-56EA7EBC5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EEDE5-0ED7-4238-8238-7ED8952A2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long a program takes to run can depend significantly on how well it is optimized.</a:t>
            </a:r>
          </a:p>
          <a:p>
            <a:r>
              <a:rPr lang="en-US" dirty="0"/>
              <a:t>Proper performance optimization can speed up a program by an order of magnitude or more. </a:t>
            </a:r>
          </a:p>
          <a:p>
            <a:r>
              <a:rPr lang="en-US" dirty="0"/>
              <a:t>For a complex economic model, this can make a difference of days or weeks. </a:t>
            </a:r>
          </a:p>
          <a:p>
            <a:r>
              <a:rPr lang="en-US" dirty="0"/>
              <a:t>First, it is helpful to understand </a:t>
            </a:r>
            <a:r>
              <a:rPr lang="en-US" i="1" dirty="0"/>
              <a:t>why</a:t>
            </a:r>
            <a:r>
              <a:rPr lang="en-US" dirty="0"/>
              <a:t> performance can differ so dramatically.</a:t>
            </a:r>
          </a:p>
        </p:txBody>
      </p:sp>
    </p:spTree>
    <p:extLst>
      <p:ext uri="{BB962C8B-B14F-4D97-AF65-F5344CB8AC3E}">
        <p14:creationId xmlns:p14="http://schemas.microsoft.com/office/powerpoint/2010/main" val="3382419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E35A9-C2D9-451F-B525-370620468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A531E-F5B0-4307-9248-D1397CFF7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Code performance generally depends on how directly it talks to your computer.</a:t>
            </a:r>
          </a:p>
          <a:p>
            <a:r>
              <a:rPr lang="en-US" dirty="0"/>
              <a:t>At basic level, computers communicate in zeros and ones.</a:t>
            </a:r>
          </a:p>
          <a:p>
            <a:r>
              <a:rPr lang="en-US" dirty="0"/>
              <a:t>Humans are bad at writing in zeros and ones, so we instead write in symbolic representations of them.</a:t>
            </a:r>
          </a:p>
          <a:p>
            <a:r>
              <a:rPr lang="en-US" dirty="0"/>
              <a:t>The symbolic representation that corresponds most directly to machine code is called </a:t>
            </a:r>
            <a:r>
              <a:rPr lang="en-US" b="1" dirty="0"/>
              <a:t>assembly.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001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99809-D766-4CEF-8801-9899F03EA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not write in assembly.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BE495-3586-435F-BE6A-51BDCE2B4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“Hello World” in assembly: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    org  0x100        ; .com files always start 256 bytes into the segment</a:t>
            </a:r>
            <a:br>
              <a:rPr lang="en-US" dirty="0"/>
            </a:br>
            <a:br>
              <a:rPr lang="en-US" dirty="0"/>
            </a:br>
            <a:r>
              <a:rPr lang="en-US" dirty="0"/>
              <a:t>    </a:t>
            </a:r>
            <a:r>
              <a:rPr lang="en-US" b="1" dirty="0"/>
              <a:t>mov</a:t>
            </a:r>
            <a:r>
              <a:rPr lang="en-US" dirty="0"/>
              <a:t>  </a:t>
            </a:r>
            <a:r>
              <a:rPr lang="en-US" b="1" dirty="0"/>
              <a:t>dx,</a:t>
            </a:r>
            <a:r>
              <a:rPr lang="en-US" dirty="0"/>
              <a:t> msg      ; the address of or message in dx</a:t>
            </a:r>
            <a:br>
              <a:rPr lang="en-US" dirty="0"/>
            </a:br>
            <a:r>
              <a:rPr lang="en-US" dirty="0"/>
              <a:t>    </a:t>
            </a:r>
            <a:r>
              <a:rPr lang="en-US" b="1" dirty="0"/>
              <a:t>mov</a:t>
            </a:r>
            <a:r>
              <a:rPr lang="en-US" dirty="0"/>
              <a:t>  </a:t>
            </a:r>
            <a:r>
              <a:rPr lang="en-US" b="1" dirty="0"/>
              <a:t>ah,</a:t>
            </a:r>
            <a:r>
              <a:rPr lang="en-US" dirty="0"/>
              <a:t> 9        ; ah=9 - "print string" sub-function</a:t>
            </a:r>
            <a:br>
              <a:rPr lang="en-US" dirty="0"/>
            </a:br>
            <a:r>
              <a:rPr lang="en-US" dirty="0"/>
              <a:t>    </a:t>
            </a:r>
            <a:r>
              <a:rPr lang="en-US" b="1" dirty="0"/>
              <a:t>int</a:t>
            </a:r>
            <a:r>
              <a:rPr lang="en-US" dirty="0"/>
              <a:t>  0x21         ; call dos services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    </a:t>
            </a:r>
            <a:r>
              <a:rPr lang="en-US" b="1" dirty="0"/>
              <a:t>mov</a:t>
            </a:r>
            <a:r>
              <a:rPr lang="en-US" dirty="0"/>
              <a:t>  </a:t>
            </a:r>
            <a:r>
              <a:rPr lang="en-US" b="1" dirty="0"/>
              <a:t>ah,</a:t>
            </a:r>
            <a:r>
              <a:rPr lang="en-US" dirty="0"/>
              <a:t> 0x4c     ; "terminate program" sub-function</a:t>
            </a:r>
            <a:br>
              <a:rPr lang="en-US" dirty="0"/>
            </a:br>
            <a:r>
              <a:rPr lang="en-US" dirty="0"/>
              <a:t>    </a:t>
            </a:r>
            <a:r>
              <a:rPr lang="en-US" b="1" dirty="0"/>
              <a:t>int</a:t>
            </a:r>
            <a:r>
              <a:rPr lang="en-US" dirty="0"/>
              <a:t>  0x21         ; call dos services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    msg  </a:t>
            </a:r>
            <a:r>
              <a:rPr lang="en-US" dirty="0" err="1"/>
              <a:t>db</a:t>
            </a:r>
            <a:r>
              <a:rPr lang="en-US" dirty="0"/>
              <a:t> 'Hello, World!'</a:t>
            </a:r>
            <a:r>
              <a:rPr lang="en-US" b="1" dirty="0"/>
              <a:t>,</a:t>
            </a:r>
            <a:r>
              <a:rPr lang="en-US" dirty="0"/>
              <a:t> 0x0d</a:t>
            </a:r>
            <a:r>
              <a:rPr lang="en-US" b="1" dirty="0"/>
              <a:t>,</a:t>
            </a:r>
            <a:r>
              <a:rPr lang="en-US" dirty="0"/>
              <a:t> 0x0a</a:t>
            </a:r>
            <a:r>
              <a:rPr lang="en-US" b="1" dirty="0"/>
              <a:t>,</a:t>
            </a:r>
            <a:r>
              <a:rPr lang="en-US" dirty="0"/>
              <a:t> '$'   ; $-terminated message</a:t>
            </a:r>
          </a:p>
        </p:txBody>
      </p:sp>
    </p:spTree>
    <p:extLst>
      <p:ext uri="{BB962C8B-B14F-4D97-AF65-F5344CB8AC3E}">
        <p14:creationId xmlns:p14="http://schemas.microsoft.com/office/powerpoint/2010/main" val="2565083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071EF-5EE9-405D-9D17-2EF718312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A366D-5841-48E6-9D2C-21D601AAF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Most languages achieve high performance by converting the language into assembly before running it. </a:t>
            </a:r>
          </a:p>
          <a:p>
            <a:r>
              <a:rPr lang="en-US" dirty="0"/>
              <a:t>This process is called </a:t>
            </a:r>
            <a:r>
              <a:rPr lang="en-US" b="1" dirty="0"/>
              <a:t>compilation</a:t>
            </a:r>
            <a:r>
              <a:rPr lang="en-US" dirty="0"/>
              <a:t>.</a:t>
            </a:r>
          </a:p>
          <a:p>
            <a:r>
              <a:rPr lang="en-US" dirty="0"/>
              <a:t>This process is most obvious in languages like FORTRAN or C, where you have to compile the code manually before running it.</a:t>
            </a:r>
          </a:p>
          <a:p>
            <a:r>
              <a:rPr lang="en-US" dirty="0"/>
              <a:t>Languages that don’t convert their code into assembly are typically called </a:t>
            </a:r>
            <a:r>
              <a:rPr lang="en-US" b="1" dirty="0"/>
              <a:t>interpreted </a:t>
            </a:r>
            <a:r>
              <a:rPr lang="en-US" dirty="0"/>
              <a:t>languages.</a:t>
            </a:r>
          </a:p>
          <a:p>
            <a:pPr lvl="1"/>
            <a:r>
              <a:rPr lang="en-US" dirty="0"/>
              <a:t>For the computer, this is like executing directions in Spanish if the computer only knew English.</a:t>
            </a:r>
          </a:p>
          <a:p>
            <a:pPr lvl="1"/>
            <a:r>
              <a:rPr lang="en-US" dirty="0"/>
              <a:t>Note: this is often a false dichotomy: many languages have options to be interpreted or compiled</a:t>
            </a:r>
          </a:p>
        </p:txBody>
      </p:sp>
    </p:spTree>
    <p:extLst>
      <p:ext uri="{BB962C8B-B14F-4D97-AF65-F5344CB8AC3E}">
        <p14:creationId xmlns:p14="http://schemas.microsoft.com/office/powerpoint/2010/main" val="2599060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67ADA-ECCD-4159-820C-8C1A5AC29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D39EA-E7B8-402F-9EF0-2050FF722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meanings to this</a:t>
            </a:r>
          </a:p>
          <a:p>
            <a:pPr lvl="1"/>
            <a:r>
              <a:rPr lang="en-US" dirty="0"/>
              <a:t>First: conversion of a computer program from scalar implementation to vector implementation (i.e.: operating on a single data point at a time to multiple).</a:t>
            </a:r>
          </a:p>
          <a:p>
            <a:pPr lvl="1"/>
            <a:r>
              <a:rPr lang="en-US" dirty="0"/>
              <a:t>Typically done automatically when code is compiled.</a:t>
            </a:r>
          </a:p>
          <a:p>
            <a:pPr lvl="1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BAF5B4C-2C64-4283-9E05-CE47330780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3348" y="3591303"/>
            <a:ext cx="3067468" cy="3155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493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15847-46DD-46A3-9AD2-B055F162A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DDFFA-7946-4A21-B23A-4AD5096D9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Second meaning: ditching loops in favor of matrix operations.</a:t>
            </a:r>
          </a:p>
          <a:p>
            <a:r>
              <a:rPr lang="en-US" dirty="0"/>
              <a:t>This is very important in languages like </a:t>
            </a:r>
            <a:r>
              <a:rPr lang="en-US" dirty="0" err="1"/>
              <a:t>Matlab</a:t>
            </a:r>
            <a:r>
              <a:rPr lang="en-US" dirty="0"/>
              <a:t> and R</a:t>
            </a:r>
          </a:p>
          <a:p>
            <a:pPr lvl="1"/>
            <a:r>
              <a:rPr lang="en-US" dirty="0"/>
              <a:t>Reason: matrix operations in these languages are typically written in C and therefore faster, because they’re compiled!</a:t>
            </a:r>
          </a:p>
        </p:txBody>
      </p:sp>
      <p:pic>
        <p:nvPicPr>
          <p:cNvPr id="4" name="Content Placeholder 4" descr="A screen shot of a computer&#10;&#10;Description automatically generated">
            <a:extLst>
              <a:ext uri="{FF2B5EF4-FFF2-40B4-BE49-F238E27FC236}">
                <a16:creationId xmlns:a16="http://schemas.microsoft.com/office/drawing/2014/main" id="{DBFB5475-13EA-45B1-82D7-956DB16D22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700891"/>
            <a:ext cx="4688873" cy="1575264"/>
          </a:xfrm>
          <a:prstGeom prst="rect">
            <a:avLst/>
          </a:prstGeom>
        </p:spPr>
      </p:pic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3F9A6406-3B40-435D-8F4E-77FB88E713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3561" y="3700891"/>
            <a:ext cx="5755735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970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5B2FF-9D69-46A6-A91A-E6ADA0BCB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Vectorization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03906-0D66-4418-99F2-F16585255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simple cases, vectorization is easy and intuitive.</a:t>
            </a:r>
          </a:p>
          <a:p>
            <a:r>
              <a:rPr lang="en-US" dirty="0"/>
              <a:t>Vectorizing complex loops and functions, however, can be extremely difficult and detract considerably from readability.</a:t>
            </a:r>
          </a:p>
          <a:p>
            <a:pPr lvl="1"/>
            <a:r>
              <a:rPr lang="en-US" dirty="0"/>
              <a:t>In many economic models, it can be more intuitive to write things out in loops.</a:t>
            </a:r>
          </a:p>
          <a:p>
            <a:r>
              <a:rPr lang="en-US" dirty="0"/>
              <a:t>Vectorization is not required in Julia for performance.</a:t>
            </a:r>
          </a:p>
        </p:txBody>
      </p:sp>
    </p:spTree>
    <p:extLst>
      <p:ext uri="{BB962C8B-B14F-4D97-AF65-F5344CB8AC3E}">
        <p14:creationId xmlns:p14="http://schemas.microsoft.com/office/powerpoint/2010/main" val="2897031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3BA97-06CB-4C53-8879-F80CE0D09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Julia performance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9B648-605B-42A8-A46C-D767071D6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Julia compiles functions when run for the first time – JIT (just in time) compilation.</a:t>
            </a:r>
          </a:p>
          <a:p>
            <a:r>
              <a:rPr lang="en-US" dirty="0"/>
              <a:t>An upshot of this is that anything substantial in your program should be housed in a function so that it can be turned into assembly.</a:t>
            </a:r>
          </a:p>
          <a:p>
            <a:r>
              <a:rPr lang="en-US" dirty="0"/>
              <a:t>In particular, avoid global variables.</a:t>
            </a:r>
          </a:p>
          <a:p>
            <a:r>
              <a:rPr lang="en-US" dirty="0"/>
              <a:t>Type declarations are also helpful.</a:t>
            </a:r>
          </a:p>
          <a:p>
            <a:r>
              <a:rPr lang="en-US" dirty="0"/>
              <a:t>Julia’s profiler also allows you to hunt for bottlenecks. We will discuss this more next week. For now, let’s code a bit!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720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EF4EF-4698-4DEC-9916-221B95CD5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A57AD-8ED5-4CBD-847C-21C07C8F5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part of your computer that executes instructions and mathematical operations is called the CPU.</a:t>
            </a:r>
          </a:p>
          <a:p>
            <a:r>
              <a:rPr lang="en-US" dirty="0"/>
              <a:t>A feature of modern CPUs is that they often have multiple processing units (cores).</a:t>
            </a:r>
          </a:p>
          <a:p>
            <a:r>
              <a:rPr lang="en-US" dirty="0"/>
              <a:t>A natural speed improvement may come from distributing the tasks in the program across cores and have them all working at once.</a:t>
            </a:r>
          </a:p>
          <a:p>
            <a:r>
              <a:rPr lang="en-US" dirty="0"/>
              <a:t>This is called </a:t>
            </a:r>
            <a:r>
              <a:rPr lang="en-US" b="1" dirty="0"/>
              <a:t>parallelization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Matlab</a:t>
            </a:r>
            <a:r>
              <a:rPr lang="en-US" dirty="0"/>
              <a:t> – Easy parallelization: “</a:t>
            </a:r>
            <a:r>
              <a:rPr lang="en-US" dirty="0" err="1"/>
              <a:t>parfor</a:t>
            </a:r>
            <a:r>
              <a:rPr lang="en-US" dirty="0"/>
              <a:t>” loop.</a:t>
            </a:r>
          </a:p>
          <a:p>
            <a:pPr lvl="1"/>
            <a:r>
              <a:rPr lang="en-US" dirty="0"/>
              <a:t>Julia – conceptually easy, but a bit clunkier.</a:t>
            </a:r>
          </a:p>
          <a:p>
            <a:pPr lvl="1"/>
            <a:r>
              <a:rPr lang="en-US" dirty="0"/>
              <a:t>FORTRAN – Difficult to set up.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852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9F34D-0D1D-47AF-B72E-5C377898B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Caveats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5E1DD-E1A9-417F-B47C-827F14FD8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Passing information across cores and then recollecting takes “overhead” time.</a:t>
            </a:r>
          </a:p>
          <a:p>
            <a:r>
              <a:rPr lang="en-US" dirty="0"/>
              <a:t>If done poorly, parallel loops can offer minimal performance improvements or may even slow things down.</a:t>
            </a:r>
          </a:p>
          <a:p>
            <a:r>
              <a:rPr lang="en-US" dirty="0"/>
              <a:t>Solution: tasks allocated in parallel for loops should be non-trivial.</a:t>
            </a:r>
          </a:p>
          <a:p>
            <a:pPr lvl="1"/>
            <a:r>
              <a:rPr lang="en-US" dirty="0"/>
              <a:t>Example: bootstrapping standard errors</a:t>
            </a:r>
          </a:p>
        </p:txBody>
      </p:sp>
    </p:spTree>
    <p:extLst>
      <p:ext uri="{BB962C8B-B14F-4D97-AF65-F5344CB8AC3E}">
        <p14:creationId xmlns:p14="http://schemas.microsoft.com/office/powerpoint/2010/main" val="3563900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B288C-340A-41CE-BE35-D219C261A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Serious Parallelization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67781-8203-405C-90C1-D5D772628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While a typical computer has more than 1 core, they also don’t have that many.</a:t>
            </a:r>
          </a:p>
          <a:p>
            <a:r>
              <a:rPr lang="en-US" dirty="0"/>
              <a:t>A typical number is 4.</a:t>
            </a:r>
          </a:p>
          <a:p>
            <a:r>
              <a:rPr lang="en-US" dirty="0"/>
              <a:t>If you’d like to parallelize over dozens or hundreds of cores, you will typically need to use a remote server.</a:t>
            </a:r>
          </a:p>
          <a:p>
            <a:r>
              <a:rPr lang="en-US" dirty="0"/>
              <a:t>Places like Amazon offer computing services at a reasonable fee.</a:t>
            </a:r>
          </a:p>
          <a:p>
            <a:r>
              <a:rPr lang="en-US" dirty="0"/>
              <a:t>At </a:t>
            </a:r>
            <a:r>
              <a:rPr lang="en-US" dirty="0" err="1"/>
              <a:t>UIowa</a:t>
            </a:r>
            <a:r>
              <a:rPr lang="en-US" dirty="0"/>
              <a:t>, a good option is the Argon system: https://research.its.uiowa.edu/our-services/computing-services/argon-high-performance-computing-hpc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744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782</Words>
  <Application>Microsoft Office PowerPoint</Application>
  <PresentationFormat>Widescreen</PresentationFormat>
  <Paragraphs>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ECON 5010</vt:lpstr>
      <vt:lpstr>Performance</vt:lpstr>
      <vt:lpstr>Machine Code</vt:lpstr>
      <vt:lpstr>Do not write in assembly.</vt:lpstr>
      <vt:lpstr>Compilation</vt:lpstr>
      <vt:lpstr>Vectorization</vt:lpstr>
      <vt:lpstr>Vectorization</vt:lpstr>
      <vt:lpstr>More on Vectorization </vt:lpstr>
      <vt:lpstr>Julia performance tips</vt:lpstr>
      <vt:lpstr>Background</vt:lpstr>
      <vt:lpstr>Caveats</vt:lpstr>
      <vt:lpstr>Serious Parallelization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Garrett Anstreicher</dc:creator>
  <cp:lastModifiedBy>Anstreicher, Garrett</cp:lastModifiedBy>
  <cp:revision>18</cp:revision>
  <dcterms:created xsi:type="dcterms:W3CDTF">2026-08-06T19:01:41Z</dcterms:created>
  <dcterms:modified xsi:type="dcterms:W3CDTF">2026-09-03T14:33:44Z</dcterms:modified>
</cp:coreProperties>
</file>