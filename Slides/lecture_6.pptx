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7" r:id="rId13"/>
    <p:sldId id="266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166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1CF7-6EC5-46DD-C0D2-04B2DBC82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0E9356-88CB-20D8-DC01-D5B60B9B2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7DB8-D253-3A5A-3A33-A5D8C572C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98A10-93FB-7546-D0AF-7A77E69FD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7BDA4-F06C-B032-148E-9D8ECBE3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99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78B2-9EE0-B5E5-2904-B5F990C69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36878-3AEE-0BA3-CB25-62DC8BBE8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887BB-C2F3-9FB8-1E22-54C05AD79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9ED91-9B1B-57A0-0B1A-D8B024D23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95437-CDD7-126A-6550-F22FF888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2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1C9C1-E374-4A72-306A-6492DC197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52E3F-4212-5887-1224-50788400B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8E351-D2BC-3A90-D0A5-C2C8F9DD7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AF142-E89D-38F0-D3F8-0FBC4BD6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E006E-015B-9784-842A-C394CB6C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77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39BC-3196-6534-7F32-3B7BAE81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0A58-09B2-9DCC-CC7F-12467A960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C4ED8-A328-7466-8637-12BA2329B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ADD35-3D98-3F5E-9E3A-5D706952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8D15D-3A18-0BAD-48E2-484BB68A5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860D7-1FF2-E56F-1096-8576C4408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0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D4EF-0D03-FB6F-B678-A6EC394CF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7E67E-B16B-D7B4-C18A-0E2E54E71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D2BF6-3B04-D829-5765-749C7A3A8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E4C4B-89A2-A1ED-2934-411CB7A28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89B8A-BE2A-C830-D89F-69E43386E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28AC6F-94E7-8CFC-72F0-CA888E4E8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68DD7-A7D6-17BD-5D91-B8E99621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575185-0732-EF95-D910-32DABFF8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94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0802F-0B3B-6167-EA98-5C2FC134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9AB04-BB82-EB30-0B97-1F540E3D5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AFD10-1522-A793-E033-EC250D90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7C5BA-7640-8B75-B121-F1837BD3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8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E8E06A-8B04-D5A6-ADFB-079B9F6A6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9B3DFB-C520-D218-DE5D-276AA080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DC481-A6F4-F25B-39C5-AC5AEE2A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8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DECAF-61F6-72C1-5928-BB2AD0DAE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CB707-0F07-B916-5B9D-2C1F8E138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9A3D2A-3EC1-B71C-60BA-C8876EBB8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0A44D-6927-EC16-87E1-09D7F3B9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D5E51-0ABD-1127-40E5-49B5582F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1C5A4-5A63-6F02-0DF4-1FD04B19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86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FCA2-1DAB-0431-9434-41650A7C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24B6FD-A433-03A6-D6D4-25BECA88D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3C319-0741-B419-5E47-8443EA5B9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EB1EF-586D-3E32-502C-E696CBFC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71C58-D253-70C8-3862-EBC2C5BB6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B3662-E3E0-1D1A-CBE3-621C7A4E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38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A2366-B0DD-720F-556B-DCC94F13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3EAA6-8345-26F9-8FD5-D2FD6619C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B1320-34A0-C929-F4F2-084F2A938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48215-3AE4-80B8-9DDF-984B7655C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DBEAB-152B-B2FE-A297-EE9E449B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26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86BBD7-F6C5-4547-9D9D-4DCEA7D82F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6EB9E-7FB6-0C3A-613C-801362CF0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475A9-6845-7DBC-4B21-3AC8690F3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923CE-A5D6-2733-6D94-2B614B65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3514D-3B53-7760-0DF8-65C111C9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9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07C7B5-4840-38DE-7C76-D6300E8A1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2AF1C-920C-1CF1-3658-3F9B6672F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9D3B9-5F3F-A205-96C7-227A103032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F5A94-5088-43EF-B815-53F6BA297BE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42CA3-2085-F20B-977B-E42E9F624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8AD0A-31BC-6E45-8956-91A6C2998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5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05569-FB1D-2425-0BB8-D81D1D748E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ECON 5010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7280A-7264-DC9C-B390-6E381394C0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Agentic Coding</a:t>
            </a:r>
          </a:p>
        </p:txBody>
      </p:sp>
    </p:spTree>
    <p:extLst>
      <p:ext uri="{BB962C8B-B14F-4D97-AF65-F5344CB8AC3E}">
        <p14:creationId xmlns:p14="http://schemas.microsoft.com/office/powerpoint/2010/main" val="121699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6B0FC-EB71-9474-0F8B-FC13A83AB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is obviously everywhere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89639-B56E-3DAA-B4E4-DE234843F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Better at some things than others, but one thing it’s really good at is coding.</a:t>
            </a:r>
          </a:p>
          <a:p>
            <a:r>
              <a:rPr lang="en-US" dirty="0"/>
              <a:t>Today we will talk about and demonstrate various levels of AI assistance in coding.</a:t>
            </a:r>
          </a:p>
          <a:p>
            <a:r>
              <a:rPr lang="en-US" dirty="0"/>
              <a:t>But first, let’s talk a bit about how AI models work in the first place.</a:t>
            </a:r>
          </a:p>
        </p:txBody>
      </p:sp>
    </p:spTree>
    <p:extLst>
      <p:ext uri="{BB962C8B-B14F-4D97-AF65-F5344CB8AC3E}">
        <p14:creationId xmlns:p14="http://schemas.microsoft.com/office/powerpoint/2010/main" val="120065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DB91B-5F07-6FCC-64FB-D239E3FB8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8E5B9-6639-14FD-EDCE-E04622946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GPT stand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5AFB2-0B69-F506-C357-F5C8C3072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Generative Pre-trained Transformer</a:t>
            </a:r>
          </a:p>
          <a:p>
            <a:pPr lvl="1"/>
            <a:r>
              <a:rPr lang="en-US" dirty="0"/>
              <a:t>Generative: means it makes stuff</a:t>
            </a:r>
          </a:p>
          <a:p>
            <a:pPr lvl="1"/>
            <a:r>
              <a:rPr lang="en-US" dirty="0"/>
              <a:t>Pre-trained: indicates that the model went through some process of learning over data.</a:t>
            </a:r>
          </a:p>
          <a:p>
            <a:pPr lvl="1"/>
            <a:r>
              <a:rPr lang="en-US" dirty="0"/>
              <a:t>Transformer: ???</a:t>
            </a:r>
          </a:p>
        </p:txBody>
      </p:sp>
    </p:spTree>
    <p:extLst>
      <p:ext uri="{BB962C8B-B14F-4D97-AF65-F5344CB8AC3E}">
        <p14:creationId xmlns:p14="http://schemas.microsoft.com/office/powerpoint/2010/main" val="71285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F8398-6FB2-3BE8-3EF9-568AB8052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AC0344-450E-5495-6D5C-B801CC4A5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021" y="156706"/>
            <a:ext cx="7401958" cy="654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9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FCFA-BA7B-4BDB-E3D6-676D92D7E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7127-959E-7D18-ACA0-2766716A5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A0D31-EF35-B7EF-DD06-F83DF82A0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Trained to take in text</a:t>
            </a:r>
          </a:p>
          <a:p>
            <a:r>
              <a:rPr lang="en-US" dirty="0"/>
              <a:t>Then predicts what comes next.</a:t>
            </a:r>
          </a:p>
          <a:p>
            <a:pPr lvl="1"/>
            <a:r>
              <a:rPr lang="en-US" dirty="0"/>
              <a:t>Takes form of a probability distribution over next words.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59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2E7EE-38DF-28B7-FEA0-4E09DDD1F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C19959-47CE-B11B-A835-904EBB396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731"/>
            <a:ext cx="12192000" cy="619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511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8FB60-BA0A-8644-6100-01956A113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322A-C35E-FB46-09DE-E7D16C36A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go from one word to whole responses?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8A5EA-A543-1FDB-9675-39440CF3A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 the next word</a:t>
            </a:r>
          </a:p>
          <a:p>
            <a:r>
              <a:rPr lang="en-US" dirty="0"/>
              <a:t>Append the word to the prompt</a:t>
            </a:r>
          </a:p>
          <a:p>
            <a:r>
              <a:rPr lang="en-US" dirty="0"/>
              <a:t>Refeed the prompt into the transformer</a:t>
            </a:r>
          </a:p>
          <a:p>
            <a:r>
              <a:rPr lang="en-US" dirty="0"/>
              <a:t>Predict the next word</a:t>
            </a:r>
          </a:p>
          <a:p>
            <a:r>
              <a:rPr lang="en-US" dirty="0"/>
              <a:t>And so on . . .</a:t>
            </a:r>
          </a:p>
        </p:txBody>
      </p:sp>
    </p:spTree>
    <p:extLst>
      <p:ext uri="{BB962C8B-B14F-4D97-AF65-F5344CB8AC3E}">
        <p14:creationId xmlns:p14="http://schemas.microsoft.com/office/powerpoint/2010/main" val="339913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2FA60-37FA-CEF8-5D1B-8E47C337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74D54-8375-CB38-8724-38D871D53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how is the prompt handled?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51524-8686-1368-030D-CCC4D1152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the prompt, “To date, the cleverest thinker of all time was _____”</a:t>
            </a:r>
          </a:p>
          <a:p>
            <a:r>
              <a:rPr lang="en-US" dirty="0"/>
              <a:t>The first step is breaking up this prompt into what are called </a:t>
            </a:r>
            <a:r>
              <a:rPr lang="en-US" b="1" dirty="0"/>
              <a:t>tokens.</a:t>
            </a:r>
          </a:p>
          <a:p>
            <a:pPr lvl="1"/>
            <a:r>
              <a:rPr lang="en-US" dirty="0"/>
              <a:t>Sometimes the same as words, but not always.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36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EF703-7271-ECF1-3246-A9DD2E534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6B40E-392B-A732-0E15-CF8168082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724C7-0BBD-EF92-F390-4C579FC0F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36991A-A528-5929-342B-E5163D16B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801"/>
            <a:ext cx="12192000" cy="652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86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36ECE-AA3D-E7CE-D424-180A0C9D2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55783-F36E-E580-1833-CB9AF05C8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1B8AA-0085-31E2-C78F-A0E7CB6D2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These vectors are essentially coordinates in an high-dimensional space.</a:t>
            </a:r>
          </a:p>
          <a:p>
            <a:pPr lvl="1"/>
            <a:r>
              <a:rPr lang="en-US" dirty="0"/>
              <a:t>Enough dimensions to essentially capture meaning in the English language.</a:t>
            </a:r>
          </a:p>
          <a:p>
            <a:pPr lvl="1"/>
            <a:r>
              <a:rPr lang="en-US" dirty="0"/>
              <a:t>Dimensions capture semantic meaning. One dimension for height, another for gender, another for plurality, etc. Around 12k dimensions in ChatGPT3.</a:t>
            </a:r>
          </a:p>
          <a:p>
            <a:pPr lvl="1"/>
            <a:r>
              <a:rPr lang="en-US" dirty="0"/>
              <a:t>This is called </a:t>
            </a:r>
            <a:r>
              <a:rPr lang="en-US" b="1" dirty="0"/>
              <a:t>embedding.</a:t>
            </a:r>
            <a:endParaRPr lang="en-US" dirty="0"/>
          </a:p>
          <a:p>
            <a:r>
              <a:rPr lang="en-US" dirty="0"/>
              <a:t>Words or tokens with similar meaning will have similar coordinates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 “hop,” “skip,” and “jump.”</a:t>
            </a:r>
          </a:p>
          <a:p>
            <a:r>
              <a:rPr lang="en-US" dirty="0"/>
              <a:t>Thematic </a:t>
            </a:r>
            <a:r>
              <a:rPr lang="en-US" b="1" dirty="0"/>
              <a:t>differences</a:t>
            </a:r>
            <a:r>
              <a:rPr lang="en-US" dirty="0"/>
              <a:t> between words will also move in a similar direction</a:t>
            </a:r>
          </a:p>
          <a:p>
            <a:pPr lvl="1"/>
            <a:r>
              <a:rPr lang="en-US" dirty="0"/>
              <a:t>E.g. going from “king” to “queen” will entail a similar movement in this vector space as going from “man” to “woman”: E(king) – E(queen) = E(man) – E(woman)</a:t>
            </a:r>
          </a:p>
        </p:txBody>
      </p:sp>
    </p:spTree>
    <p:extLst>
      <p:ext uri="{BB962C8B-B14F-4D97-AF65-F5344CB8AC3E}">
        <p14:creationId xmlns:p14="http://schemas.microsoft.com/office/powerpoint/2010/main" val="120668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1D5B-EAB7-8E72-6C22-E78A63F39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embedding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150C8-50CB-8AD2-C38E-AEF602B25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E(Hitler) + E(Italy) – E(Germany) = E(Mussolini)</a:t>
            </a:r>
          </a:p>
          <a:p>
            <a:r>
              <a:rPr lang="en-US" dirty="0"/>
              <a:t>E(Sushi) + E(Germany) – E(Japan) = E(Bratwurst)</a:t>
            </a:r>
          </a:p>
          <a:p>
            <a:r>
              <a:rPr lang="en-US" dirty="0"/>
              <a:t>Note that the dot product of vectors gives a measure of their degree of alignment. This ends up being very helpful!</a:t>
            </a:r>
          </a:p>
        </p:txBody>
      </p:sp>
    </p:spTree>
    <p:extLst>
      <p:ext uri="{BB962C8B-B14F-4D97-AF65-F5344CB8AC3E}">
        <p14:creationId xmlns:p14="http://schemas.microsoft.com/office/powerpoint/2010/main" val="216734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23B3-D8B0-B75B-5C0B-24DBAC7EC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371FB-4B30-01A4-4505-FC289FC1B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Initially, the meaning of the word (vector) is essentially in a vacuum.</a:t>
            </a:r>
          </a:p>
          <a:p>
            <a:r>
              <a:rPr lang="en-US" dirty="0"/>
              <a:t>Using other words in the prompt to update the meaning of each other.</a:t>
            </a:r>
          </a:p>
          <a:p>
            <a:r>
              <a:rPr lang="en-US" dirty="0"/>
              <a:t>Example: “model”</a:t>
            </a:r>
          </a:p>
          <a:p>
            <a:pPr lvl="1"/>
            <a:r>
              <a:rPr lang="en-US" dirty="0"/>
              <a:t>“Model” can mean very different things: think “machine learning model” vs. “fashion model”.</a:t>
            </a:r>
          </a:p>
          <a:p>
            <a:r>
              <a:rPr lang="en-US" dirty="0"/>
              <a:t>“Attention” is the algorithm that updates the meaning of tokens in the prompt based on </a:t>
            </a:r>
            <a:r>
              <a:rPr lang="en-US" b="1" dirty="0"/>
              <a:t>other tokens present</a:t>
            </a:r>
            <a:r>
              <a:rPr lang="en-US" dirty="0"/>
              <a:t>.</a:t>
            </a:r>
          </a:p>
          <a:p>
            <a:r>
              <a:rPr lang="en-US" dirty="0"/>
              <a:t>While we will not get into the details, the attention operations are matrix operations that turn out to be extremely parallelizable. This is a big part of why it is such a big deal. </a:t>
            </a:r>
          </a:p>
        </p:txBody>
      </p:sp>
    </p:spTree>
    <p:extLst>
      <p:ext uri="{BB962C8B-B14F-4D97-AF65-F5344CB8AC3E}">
        <p14:creationId xmlns:p14="http://schemas.microsoft.com/office/powerpoint/2010/main" val="292593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892B-10F0-BEE4-1EAD-22AAB909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38424-07C2-01D1-4A87-1C0B997BD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Tokens are fed through a “multilayer perceptron” step. </a:t>
            </a:r>
          </a:p>
          <a:p>
            <a:pPr lvl="1"/>
            <a:r>
              <a:rPr lang="en-US" dirty="0"/>
              <a:t>More linear algebra, but interpreting what it does is exceedingly difficult.</a:t>
            </a:r>
          </a:p>
          <a:p>
            <a:pPr lvl="1"/>
            <a:r>
              <a:rPr lang="en-US" dirty="0"/>
              <a:t>Closest analogue is “asking questions” about the tokens, or “storing facts.”</a:t>
            </a:r>
          </a:p>
          <a:p>
            <a:r>
              <a:rPr lang="en-US" dirty="0"/>
              <a:t>Then iterate attention and MLP.</a:t>
            </a:r>
          </a:p>
          <a:p>
            <a:pPr lvl="1"/>
            <a:r>
              <a:rPr lang="en-US" dirty="0"/>
              <a:t>This is essentially a boatload of matrix multiplication operations.</a:t>
            </a:r>
          </a:p>
          <a:p>
            <a:r>
              <a:rPr lang="en-US" dirty="0"/>
              <a:t>At the end, the </a:t>
            </a:r>
            <a:r>
              <a:rPr lang="en-US" b="1" dirty="0"/>
              <a:t>final token vector</a:t>
            </a:r>
            <a:r>
              <a:rPr lang="en-US" dirty="0"/>
              <a:t> will contain as much meaning as possible and can be used to predict what ought to come next.</a:t>
            </a:r>
          </a:p>
        </p:txBody>
      </p:sp>
    </p:spTree>
    <p:extLst>
      <p:ext uri="{BB962C8B-B14F-4D97-AF65-F5344CB8AC3E}">
        <p14:creationId xmlns:p14="http://schemas.microsoft.com/office/powerpoint/2010/main" val="302259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9DE86-572C-60C6-7835-0A0F4A67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how does this apply to coding?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7DD32-F54D-E891-686B-2DFFBCCD4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kind of method applies well to coding</a:t>
            </a:r>
          </a:p>
          <a:p>
            <a:r>
              <a:rPr lang="en-US" dirty="0"/>
              <a:t>Applications within </a:t>
            </a:r>
            <a:r>
              <a:rPr lang="en-US" dirty="0" err="1"/>
              <a:t>VSCode</a:t>
            </a:r>
            <a:endParaRPr lang="en-US" dirty="0"/>
          </a:p>
          <a:p>
            <a:pPr lvl="1"/>
            <a:r>
              <a:rPr lang="en-US" dirty="0"/>
              <a:t>Autocomplete</a:t>
            </a:r>
          </a:p>
          <a:p>
            <a:pPr lvl="1"/>
            <a:r>
              <a:rPr lang="en-US" dirty="0"/>
              <a:t>Inline coding</a:t>
            </a:r>
          </a:p>
          <a:p>
            <a:pPr lvl="1"/>
            <a:r>
              <a:rPr lang="en-US" dirty="0" err="1"/>
              <a:t>Github</a:t>
            </a:r>
            <a:r>
              <a:rPr lang="en-US" dirty="0"/>
              <a:t> copilot chat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94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24561-64FD-AA32-EEF4-CF720E60B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378F0-BDC2-02DF-EBD2-C681B3E58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this: Desktop assistants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B09C6-CF37-E2BE-8084-4516A54C7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 Claude </a:t>
            </a:r>
            <a:r>
              <a:rPr lang="en-US" dirty="0" err="1"/>
              <a:t>Cowork</a:t>
            </a:r>
            <a:endParaRPr lang="en-US" dirty="0"/>
          </a:p>
          <a:p>
            <a:pPr lvl="1"/>
            <a:r>
              <a:rPr lang="en-US" dirty="0"/>
              <a:t>What this is: LLM model wrapped in an agent interface</a:t>
            </a:r>
          </a:p>
          <a:p>
            <a:r>
              <a:rPr lang="en-US" dirty="0"/>
              <a:t>Can directly modify and execute files if given permission</a:t>
            </a:r>
          </a:p>
          <a:p>
            <a:r>
              <a:rPr lang="en-US" dirty="0"/>
              <a:t>Prompting both these models as well as those within </a:t>
            </a:r>
            <a:r>
              <a:rPr lang="en-US" dirty="0" err="1"/>
              <a:t>VSCode</a:t>
            </a:r>
            <a:r>
              <a:rPr lang="en-US" dirty="0"/>
              <a:t> is as much an art as a science.</a:t>
            </a:r>
          </a:p>
        </p:txBody>
      </p:sp>
    </p:spTree>
    <p:extLst>
      <p:ext uri="{BB962C8B-B14F-4D97-AF65-F5344CB8AC3E}">
        <p14:creationId xmlns:p14="http://schemas.microsoft.com/office/powerpoint/2010/main" val="256605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6336</TotalTime>
  <Words>674</Words>
  <Application>Microsoft Office PowerPoint</Application>
  <PresentationFormat>Widescreen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ECON 5010</vt:lpstr>
      <vt:lpstr>AI is obviously everywhere</vt:lpstr>
      <vt:lpstr>What does GPT stand for?</vt:lpstr>
      <vt:lpstr>PowerPoint Presentation</vt:lpstr>
      <vt:lpstr>The model</vt:lpstr>
      <vt:lpstr>PowerPoint Presentation</vt:lpstr>
      <vt:lpstr>How to go from one word to whole responses?</vt:lpstr>
      <vt:lpstr>But how is the prompt handled?</vt:lpstr>
      <vt:lpstr>PowerPoint Presentation</vt:lpstr>
      <vt:lpstr>Key Intuition</vt:lpstr>
      <vt:lpstr>More embedding examples</vt:lpstr>
      <vt:lpstr>Attention</vt:lpstr>
      <vt:lpstr>After Attention</vt:lpstr>
      <vt:lpstr>So how does this apply to coding?</vt:lpstr>
      <vt:lpstr>Beyond this: Desktop assistants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Anstreicher</dc:creator>
  <cp:lastModifiedBy>Anstreicher, Garrett</cp:lastModifiedBy>
  <cp:revision>28</cp:revision>
  <dcterms:created xsi:type="dcterms:W3CDTF">2026-08-06T19:01:41Z</dcterms:created>
  <dcterms:modified xsi:type="dcterms:W3CDTF">2026-09-14T15:04:04Z</dcterms:modified>
</cp:coreProperties>
</file>